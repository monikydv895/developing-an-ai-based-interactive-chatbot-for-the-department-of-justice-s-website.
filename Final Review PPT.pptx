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96" r:id="rId2"/>
    <p:sldId id="257" r:id="rId3"/>
    <p:sldId id="293" r:id="rId4"/>
    <p:sldId id="297" r:id="rId5"/>
    <p:sldId id="276" r:id="rId6"/>
    <p:sldId id="294" r:id="rId7"/>
    <p:sldId id="295" r:id="rId8"/>
    <p:sldId id="301" r:id="rId9"/>
    <p:sldId id="302" r:id="rId10"/>
    <p:sldId id="303" r:id="rId11"/>
    <p:sldId id="304" r:id="rId12"/>
    <p:sldId id="289" r:id="rId13"/>
    <p:sldId id="307" r:id="rId14"/>
    <p:sldId id="306" r:id="rId15"/>
    <p:sldId id="288" r:id="rId16"/>
    <p:sldId id="308" r:id="rId17"/>
    <p:sldId id="292" r:id="rId18"/>
    <p:sldId id="285" r:id="rId19"/>
    <p:sldId id="284" r:id="rId20"/>
    <p:sldId id="282" r:id="rId21"/>
    <p:sldId id="283" r:id="rId22"/>
    <p:sldId id="265" r:id="rId23"/>
    <p:sldId id="300" r:id="rId24"/>
    <p:sldId id="266"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3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5" autoAdjust="0"/>
    <p:restoredTop sz="94660"/>
  </p:normalViewPr>
  <p:slideViewPr>
    <p:cSldViewPr snapToGrid="0">
      <p:cViewPr>
        <p:scale>
          <a:sx n="36" d="100"/>
          <a:sy n="36" d="100"/>
        </p:scale>
        <p:origin x="220" y="5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65768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IN" dirty="0"/>
          </a:p>
        </p:txBody>
      </p:sp>
    </p:spTree>
    <p:extLst>
      <p:ext uri="{BB962C8B-B14F-4D97-AF65-F5344CB8AC3E}">
        <p14:creationId xmlns:p14="http://schemas.microsoft.com/office/powerpoint/2010/main" val="1456302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1">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5" r:id="rId6"/>
    <p:sldLayoutId id="2147483656" r:id="rId7"/>
    <p:sldLayoutId id="2147483657" r:id="rId8"/>
    <p:sldLayoutId id="2147483658"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oi.org/10.1109/aicera/icis59538.2023.10420298"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608932" y="1090970"/>
            <a:ext cx="10960215" cy="1009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US" dirty="0">
                <a:solidFill>
                  <a:schemeClr val="tx1"/>
                </a:solidFill>
                <a:latin typeface="Cambria" panose="02040503050406030204" pitchFamily="18" charset="0"/>
                <a:ea typeface="Cambria" panose="02040503050406030204" pitchFamily="18" charset="0"/>
              </a:rPr>
              <a:t>DEVELOPING AN AI BASED INTERACTIVE CHATBOT OR VIRTUAL ASSISTANT FOR THE DEPARTMENT OF JUSTICE’S WEBSITE.</a:t>
            </a:r>
          </a:p>
        </p:txBody>
      </p:sp>
      <p:sp>
        <p:nvSpPr>
          <p:cNvPr id="88" name="Google Shape;88;p13"/>
          <p:cNvSpPr txBox="1">
            <a:spLocks noGrp="1"/>
          </p:cNvSpPr>
          <p:nvPr>
            <p:ph type="subTitle" idx="1"/>
          </p:nvPr>
        </p:nvSpPr>
        <p:spPr>
          <a:xfrm>
            <a:off x="1029955" y="223719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a:t>
            </a:r>
            <a:r>
              <a:rPr lang="en-GB" dirty="0">
                <a:solidFill>
                  <a:schemeClr val="tx1"/>
                </a:solidFill>
                <a:latin typeface="Cambria" panose="02040503050406030204" pitchFamily="18" charset="0"/>
                <a:ea typeface="Cambria" panose="02040503050406030204" pitchFamily="18" charset="0"/>
              </a:rPr>
              <a:t>CSE_CAI_CAP_33</a:t>
            </a:r>
            <a:endParaRPr dirty="0">
              <a:solidFill>
                <a:schemeClr val="tx1"/>
              </a:solidFill>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nvGraphicFramePr>
        <p:xfrm>
          <a:off x="608932" y="2860297"/>
          <a:ext cx="5871262" cy="1657816"/>
        </p:xfrm>
        <a:graphic>
          <a:graphicData uri="http://schemas.openxmlformats.org/drawingml/2006/table">
            <a:tbl>
              <a:tblPr firstRow="1" bandRow="1">
                <a:noFill/>
                <a:tableStyleId>{57690726-49DA-4552-BDEB-330DD8EA8BD9}</a:tableStyleId>
              </a:tblPr>
              <a:tblGrid>
                <a:gridCol w="2259147">
                  <a:extLst>
                    <a:ext uri="{9D8B030D-6E8A-4147-A177-3AD203B41FA5}">
                      <a16:colId xmlns:a16="http://schemas.microsoft.com/office/drawing/2014/main" val="20000"/>
                    </a:ext>
                  </a:extLst>
                </a:gridCol>
                <a:gridCol w="3612115">
                  <a:extLst>
                    <a:ext uri="{9D8B030D-6E8A-4147-A177-3AD203B41FA5}">
                      <a16:colId xmlns:a16="http://schemas.microsoft.com/office/drawing/2014/main" val="20001"/>
                    </a:ext>
                  </a:extLst>
                </a:gridCol>
              </a:tblGrid>
              <a:tr h="414454">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414454">
                <a:tc>
                  <a:txBody>
                    <a:bodyPr/>
                    <a:lstStyle/>
                    <a:p>
                      <a:pPr marL="0" marR="0" lvl="0" indent="0" algn="ctr" rtl="0">
                        <a:spcBef>
                          <a:spcPts val="0"/>
                        </a:spcBef>
                        <a:spcAft>
                          <a:spcPts val="0"/>
                        </a:spcAft>
                        <a:buFont typeface="+mj-lt"/>
                        <a:buNone/>
                      </a:pPr>
                      <a:r>
                        <a:rPr lang="en-US" sz="1800" u="none" strike="noStrike" cap="none" dirty="0"/>
                        <a:t>20211CAI0090</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MANOJ L</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14454">
                <a:tc>
                  <a:txBody>
                    <a:bodyPr/>
                    <a:lstStyle/>
                    <a:p>
                      <a:pPr marL="0" marR="0" lvl="0" indent="0" algn="ctr" rtl="0">
                        <a:spcBef>
                          <a:spcPts val="0"/>
                        </a:spcBef>
                        <a:spcAft>
                          <a:spcPts val="0"/>
                        </a:spcAft>
                        <a:buNone/>
                      </a:pPr>
                      <a:r>
                        <a:rPr lang="en-US" sz="1800" u="none" strike="noStrike" cap="none" dirty="0"/>
                        <a:t>20211CAI0117</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VACHANASHREE</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14454">
                <a:tc>
                  <a:txBody>
                    <a:bodyPr/>
                    <a:lstStyle/>
                    <a:p>
                      <a:pPr marL="0" marR="0" lvl="0" indent="0" algn="ctr" rtl="0">
                        <a:spcBef>
                          <a:spcPts val="0"/>
                        </a:spcBef>
                        <a:spcAft>
                          <a:spcPts val="0"/>
                        </a:spcAft>
                        <a:buNone/>
                      </a:pPr>
                      <a:r>
                        <a:rPr lang="en-US" sz="1800" u="none" strike="noStrike" cap="none" dirty="0"/>
                        <a:t>20211CAI0133</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MONIKA YADAV A</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ctr" rtl="0">
              <a:spcBef>
                <a:spcPts val="340"/>
              </a:spcBef>
              <a:spcAft>
                <a:spcPts val="0"/>
              </a:spcAft>
              <a:buClr>
                <a:srgbClr val="17365D"/>
              </a:buClr>
              <a:buSzPts val="1700"/>
              <a:buFont typeface="Arial"/>
              <a:buNone/>
            </a:pPr>
            <a:r>
              <a:rPr lang="en-GB" sz="1700" b="1" dirty="0">
                <a:solidFill>
                  <a:schemeClr val="tx1"/>
                </a:solidFill>
                <a:latin typeface="Cambria" panose="02040503050406030204" pitchFamily="18" charset="0"/>
                <a:ea typeface="Cambria" panose="02040503050406030204" pitchFamily="18" charset="0"/>
                <a:sym typeface="Verdana"/>
              </a:rPr>
              <a:t>Dr. Zafar Ali Khan N</a:t>
            </a:r>
            <a:endParaRPr dirty="0">
              <a:solidFill>
                <a:schemeClr val="tx1"/>
              </a:solidFill>
              <a:latin typeface="Cambria" panose="02040503050406030204" pitchFamily="18" charset="0"/>
              <a:ea typeface="Cambria" panose="02040503050406030204" pitchFamily="18" charset="0"/>
            </a:endParaRPr>
          </a:p>
          <a:p>
            <a:pPr algn="ctr">
              <a:spcBef>
                <a:spcPts val="340"/>
              </a:spcBef>
              <a:buClr>
                <a:srgbClr val="17365D"/>
              </a:buClr>
              <a:buSzPts val="1700"/>
            </a:pPr>
            <a:r>
              <a:rPr lang="en-GB" sz="18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Assistant Professor</a:t>
            </a:r>
            <a:endParaRPr lang="en-GB" sz="18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School of Computer Science and Engineering</a:t>
            </a:r>
            <a:endParaRPr dirty="0">
              <a:solidFill>
                <a:schemeClr val="tx1"/>
              </a:solidFill>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a:buNone/>
            </a:pPr>
            <a:r>
              <a:rPr lang="en-GB"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Presidency University</a:t>
            </a:r>
            <a:endParaRPr dirty="0">
              <a:solidFill>
                <a:schemeClr val="tx1"/>
              </a:solidFill>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dirty="0">
                <a:solidFill>
                  <a:srgbClr val="17365D"/>
                </a:solidFill>
                <a:latin typeface="Cambria" panose="02040503050406030204" pitchFamily="18" charset="0"/>
                <a:ea typeface="Cambria" panose="02040503050406030204" pitchFamily="18" charset="0"/>
                <a:cs typeface="Verdana"/>
                <a:sym typeface="Verdana"/>
              </a:rPr>
              <a:t>CSE7301 </a:t>
            </a: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Final Review</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71668" y="4725340"/>
            <a:ext cx="11822827" cy="1567884"/>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B-Tech</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solidFill>
                  <a:schemeClr val="tx1"/>
                </a:solidFill>
                <a:latin typeface="Cambria" panose="02040503050406030204" pitchFamily="18" charset="0"/>
                <a:ea typeface="Cambria" panose="02040503050406030204" pitchFamily="18" charset="0"/>
                <a:cs typeface="Verdana"/>
                <a:sym typeface="Verdana"/>
              </a:rPr>
              <a:t>Dr. Zafar Ali Khan N</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Afroz Pasha</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sz="3200" dirty="0">
                <a:latin typeface="Times New Roman" panose="02020603050405020304" pitchFamily="18" charset="0"/>
                <a:ea typeface="Cambria" panose="02040503050406030204" pitchFamily="18" charset="0"/>
                <a:cs typeface="Times New Roman" panose="02020603050405020304" pitchFamily="18" charset="0"/>
              </a:rPr>
              <a:t>INTRODUCTION</a:t>
            </a:r>
            <a:endParaRPr sz="32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B5CC50B-361F-85F1-5532-BBED45A4596D}"/>
              </a:ext>
            </a:extLst>
          </p:cNvPr>
          <p:cNvSpPr>
            <a:spLocks noGrp="1" noChangeArrowheads="1"/>
          </p:cNvSpPr>
          <p:nvPr>
            <p:ph type="body" idx="1"/>
          </p:nvPr>
        </p:nvSpPr>
        <p:spPr bwMode="auto">
          <a:xfrm>
            <a:off x="586197" y="1251668"/>
            <a:ext cx="11605803"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Department of Justice is developing an AI-based interactive chatbot to address the complexity of the legal system. The chatbot provides users with instant access to basic legal information, teaching essential legal concepts, and enabling efficient case information retrieval. It also offers a list of attorneys grouped by their expertise, allowing for efficient assignment and communication.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chatbot uses Natural Language Processing (NLP) and a structured database to understand user input and retrieve information. It searches its knowledge base, which includes a repository of basic legal information, a database of federal cases, and a database containing lawyer profiles. The chatbot generates appropriate and brief answers, such as a description of a law, a list of relevant cases, or contact information for attorneys specializing in a specific field.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chatbot also features interactive dialogue to respond to follow-up queries and participate in discussions. The system uses a well-curated and constantly updated library of legal material, case records, and professional profiles to ensure accuracy and relevance.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6DD0-10D1-A395-21FC-CE6CE7D76322}"/>
              </a:ext>
            </a:extLst>
          </p:cNvPr>
          <p:cNvSpPr>
            <a:spLocks noGrp="1"/>
          </p:cNvSpPr>
          <p:nvPr>
            <p:ph type="title"/>
          </p:nvPr>
        </p:nvSpPr>
        <p:spPr/>
        <p:txBody>
          <a:bodyPr/>
          <a:lstStyle/>
          <a:p>
            <a:r>
              <a:rPr lang="en-IN" dirty="0"/>
              <a:t>LITERATURE REVIEW</a:t>
            </a:r>
          </a:p>
        </p:txBody>
      </p:sp>
      <p:sp>
        <p:nvSpPr>
          <p:cNvPr id="4" name="Rectangle 1">
            <a:extLst>
              <a:ext uri="{FF2B5EF4-FFF2-40B4-BE49-F238E27FC236}">
                <a16:creationId xmlns:a16="http://schemas.microsoft.com/office/drawing/2014/main" id="{5D8AB4D2-0E32-D6F4-EF55-ED87378D8F84}"/>
              </a:ext>
            </a:extLst>
          </p:cNvPr>
          <p:cNvSpPr>
            <a:spLocks noGrp="1" noChangeArrowheads="1"/>
          </p:cNvSpPr>
          <p:nvPr>
            <p:ph type="body" idx="1"/>
          </p:nvPr>
        </p:nvSpPr>
        <p:spPr bwMode="auto">
          <a:xfrm>
            <a:off x="544529" y="934948"/>
            <a:ext cx="11034445" cy="5147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and Chatbot Technologies in Legal Domains: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Review of existing literature on the application of AI and chatbot technologies in legal settings.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Analysis of studies utilizing Retrieval-Augmented Generation (RAG) and FAISS for legal document analysis (Paper 1).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Examination of the evolution of AI-enabled chatbots from rule-based systems to advanced NLP-driven models (Paper 2).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Study of the development of legal chatbots for comprehensive user support, emphasizing the integration of NLP and AI (Paper 3).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Chatbot Architectures and Methodologies: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Comparison of generative and intent-based chatbot architectures for judicial advice (Paper 5).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Exploration of the use of LLMs for enhanced chatbot capabilities, including model optimization and ethical considerations (Paper 8).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Analysis of chatbot integration using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Dialogflow</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Google API (Papers 10, 16).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Review of studies on semantic modeling and domain-specific chatbot development (Paper 11).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Review of how to make chatbots for marginalized communities(Paper 6, 12, 14)</a:t>
            </a:r>
          </a:p>
        </p:txBody>
      </p:sp>
    </p:spTree>
    <p:extLst>
      <p:ext uri="{BB962C8B-B14F-4D97-AF65-F5344CB8AC3E}">
        <p14:creationId xmlns:p14="http://schemas.microsoft.com/office/powerpoint/2010/main" val="209743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23709-5E8F-70C0-EAD6-DFD2D189FCC8}"/>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0C8359D4-154F-C483-0239-6853BF5BA0F2}"/>
              </a:ext>
            </a:extLst>
          </p:cNvPr>
          <p:cNvSpPr>
            <a:spLocks noGrp="1"/>
          </p:cNvSpPr>
          <p:nvPr>
            <p:ph type="body" idx="1"/>
          </p:nvPr>
        </p:nvSpPr>
        <p:spPr/>
        <p:txBody>
          <a:bodyPr>
            <a:norm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Legal Information Retrieval and Assistance: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Study of chatbots designed for legal research and information retrieval, utilizing heuristics and advanced NLP techniques (Paper 15).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Analysis of machine learning frameworks for legal information retrieval and user assistance (Paper 19).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Analysis of systems that focus on accuracy and accountability(paper 20). </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Accessibility and User Experience: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Examination of chatbots designed to bridge legal knowledge gaps for marginalized communities (Paper 6).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Review of studies focusing on user satisfaction and the importance of user feedback (Papers 13, 21).</a:t>
            </a:r>
          </a:p>
          <a:p>
            <a:pPr marL="76200" indent="0" algn="just">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5726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D87B7-83FD-02A5-87AB-4E4460530376}"/>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Existing Systems</a:t>
            </a:r>
          </a:p>
        </p:txBody>
      </p:sp>
      <p:sp>
        <p:nvSpPr>
          <p:cNvPr id="6" name="Rectangle 1">
            <a:extLst>
              <a:ext uri="{FF2B5EF4-FFF2-40B4-BE49-F238E27FC236}">
                <a16:creationId xmlns:a16="http://schemas.microsoft.com/office/drawing/2014/main" id="{FF4BB31F-C5D5-0779-F1AA-CFB4CCDDDEE3}"/>
              </a:ext>
            </a:extLst>
          </p:cNvPr>
          <p:cNvSpPr>
            <a:spLocks noChangeArrowheads="1"/>
          </p:cNvSpPr>
          <p:nvPr/>
        </p:nvSpPr>
        <p:spPr bwMode="auto">
          <a:xfrm>
            <a:off x="3636963" y="1073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4" name="Table 3">
            <a:extLst>
              <a:ext uri="{FF2B5EF4-FFF2-40B4-BE49-F238E27FC236}">
                <a16:creationId xmlns:a16="http://schemas.microsoft.com/office/drawing/2014/main" id="{FD345ABE-73C5-CCB1-C173-68A6E818A285}"/>
              </a:ext>
            </a:extLst>
          </p:cNvPr>
          <p:cNvGraphicFramePr>
            <a:graphicFrameLocks noGrp="1"/>
          </p:cNvGraphicFramePr>
          <p:nvPr>
            <p:extLst>
              <p:ext uri="{D42A27DB-BD31-4B8C-83A1-F6EECF244321}">
                <p14:modId xmlns:p14="http://schemas.microsoft.com/office/powerpoint/2010/main" val="1136081597"/>
              </p:ext>
            </p:extLst>
          </p:nvPr>
        </p:nvGraphicFramePr>
        <p:xfrm>
          <a:off x="208642" y="1073150"/>
          <a:ext cx="11730315" cy="5510212"/>
        </p:xfrm>
        <a:graphic>
          <a:graphicData uri="http://schemas.openxmlformats.org/drawingml/2006/table">
            <a:tbl>
              <a:tblPr firstRow="1" bandRow="1"/>
              <a:tblGrid>
                <a:gridCol w="468252">
                  <a:extLst>
                    <a:ext uri="{9D8B030D-6E8A-4147-A177-3AD203B41FA5}">
                      <a16:colId xmlns:a16="http://schemas.microsoft.com/office/drawing/2014/main" val="147938512"/>
                    </a:ext>
                  </a:extLst>
                </a:gridCol>
                <a:gridCol w="1935677">
                  <a:extLst>
                    <a:ext uri="{9D8B030D-6E8A-4147-A177-3AD203B41FA5}">
                      <a16:colId xmlns:a16="http://schemas.microsoft.com/office/drawing/2014/main" val="854774513"/>
                    </a:ext>
                  </a:extLst>
                </a:gridCol>
                <a:gridCol w="2766951">
                  <a:extLst>
                    <a:ext uri="{9D8B030D-6E8A-4147-A177-3AD203B41FA5}">
                      <a16:colId xmlns:a16="http://schemas.microsoft.com/office/drawing/2014/main" val="1365941747"/>
                    </a:ext>
                  </a:extLst>
                </a:gridCol>
                <a:gridCol w="1038531">
                  <a:extLst>
                    <a:ext uri="{9D8B030D-6E8A-4147-A177-3AD203B41FA5}">
                      <a16:colId xmlns:a16="http://schemas.microsoft.com/office/drawing/2014/main" val="4032138535"/>
                    </a:ext>
                  </a:extLst>
                </a:gridCol>
                <a:gridCol w="2777705">
                  <a:extLst>
                    <a:ext uri="{9D8B030D-6E8A-4147-A177-3AD203B41FA5}">
                      <a16:colId xmlns:a16="http://schemas.microsoft.com/office/drawing/2014/main" val="2926904539"/>
                    </a:ext>
                  </a:extLst>
                </a:gridCol>
                <a:gridCol w="2743199">
                  <a:extLst>
                    <a:ext uri="{9D8B030D-6E8A-4147-A177-3AD203B41FA5}">
                      <a16:colId xmlns:a16="http://schemas.microsoft.com/office/drawing/2014/main" val="3600512802"/>
                    </a:ext>
                  </a:extLst>
                </a:gridCol>
              </a:tblGrid>
              <a:tr h="571037">
                <a:tc>
                  <a:txBody>
                    <a:bodyPr/>
                    <a:lstStyle/>
                    <a:p>
                      <a:r>
                        <a:rPr lang="en-IN" dirty="0"/>
                        <a:t>SL.NO</a:t>
                      </a:r>
                    </a:p>
                  </a:txBody>
                  <a:tcPr/>
                </a:tc>
                <a:tc>
                  <a:txBody>
                    <a:bodyPr/>
                    <a:lstStyle/>
                    <a:p>
                      <a:r>
                        <a:rPr lang="en-IN" dirty="0"/>
                        <a:t>PAPERS</a:t>
                      </a:r>
                    </a:p>
                  </a:txBody>
                  <a:tcPr/>
                </a:tc>
                <a:tc>
                  <a:txBody>
                    <a:bodyPr/>
                    <a:lstStyle/>
                    <a:p>
                      <a:r>
                        <a:rPr lang="en-IN" dirty="0"/>
                        <a:t>METHODS USED</a:t>
                      </a:r>
                    </a:p>
                  </a:txBody>
                  <a:tcPr/>
                </a:tc>
                <a:tc>
                  <a:txBody>
                    <a:bodyPr/>
                    <a:lstStyle/>
                    <a:p>
                      <a:r>
                        <a:rPr lang="en-IN" dirty="0"/>
                        <a:t>RESEARCH GAP</a:t>
                      </a:r>
                    </a:p>
                  </a:txBody>
                  <a:tcPr/>
                </a:tc>
                <a:tc>
                  <a:txBody>
                    <a:bodyPr/>
                    <a:lstStyle/>
                    <a:p>
                      <a:r>
                        <a:rPr lang="en-IN" dirty="0"/>
                        <a:t>LIMITATIONS</a:t>
                      </a:r>
                    </a:p>
                  </a:txBody>
                  <a:tcPr/>
                </a:tc>
                <a:tc>
                  <a:txBody>
                    <a:bodyPr/>
                    <a:lstStyle/>
                    <a:p>
                      <a:r>
                        <a:rPr lang="en-IN" dirty="0"/>
                        <a:t>ADVANTAGES</a:t>
                      </a:r>
                    </a:p>
                  </a:txBody>
                  <a:tcPr/>
                </a:tc>
                <a:extLst>
                  <a:ext uri="{0D108BD9-81ED-4DB2-BD59-A6C34878D82A}">
                    <a16:rowId xmlns:a16="http://schemas.microsoft.com/office/drawing/2014/main" val="2314826159"/>
                  </a:ext>
                </a:extLst>
              </a:tr>
              <a:tr h="1767576">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AI Powered Legal Querying System using NLP</a:t>
                      </a:r>
                    </a:p>
                    <a:p>
                      <a:endParaRPr lang="en-IN" dirty="0"/>
                    </a:p>
                  </a:txBody>
                  <a:tcPr/>
                </a:tc>
                <a:tc>
                  <a:txBody>
                    <a:bodyPr/>
                    <a:lstStyle/>
                    <a:p>
                      <a:r>
                        <a:rPr lang="en-US" dirty="0"/>
                        <a:t>Retrieval-Augmented Generation (RAG) for document analysis.</a:t>
                      </a:r>
                    </a:p>
                    <a:p>
                      <a:r>
                        <a:rPr lang="en-US" dirty="0"/>
                        <a:t>FAISS for semantic search and indexing.</a:t>
                      </a:r>
                    </a:p>
                    <a:p>
                      <a:endParaRPr lang="en-IN" dirty="0"/>
                    </a:p>
                  </a:txBody>
                  <a:tcPr/>
                </a:tc>
                <a:tc>
                  <a:txBody>
                    <a:bodyPr/>
                    <a:lstStyle/>
                    <a:p>
                      <a:r>
                        <a:rPr lang="en-IN" dirty="0"/>
                        <a:t>-</a:t>
                      </a:r>
                    </a:p>
                  </a:txBody>
                  <a:tcPr/>
                </a:tc>
                <a:tc>
                  <a:txBody>
                    <a:bodyPr/>
                    <a:lstStyle/>
                    <a:p>
                      <a:r>
                        <a:rPr lang="en-US" dirty="0"/>
                        <a:t>o Future developments needed for enhanced NLP capabilities.</a:t>
                      </a:r>
                    </a:p>
                    <a:p>
                      <a:r>
                        <a:rPr lang="en-US" dirty="0"/>
                        <a:t>o Integration of advanced security measures required for sensitive information.</a:t>
                      </a:r>
                    </a:p>
                    <a:p>
                      <a:endParaRPr lang="en-IN" dirty="0"/>
                    </a:p>
                  </a:txBody>
                  <a:tcPr/>
                </a:tc>
                <a:tc>
                  <a:txBody>
                    <a:bodyPr/>
                    <a:lstStyle/>
                    <a:p>
                      <a:r>
                        <a:rPr lang="en-US" dirty="0"/>
                        <a:t>Streamlines legal information retrieval and document analysis.</a:t>
                      </a:r>
                    </a:p>
                    <a:p>
                      <a:r>
                        <a:rPr lang="en-US" dirty="0"/>
                        <a:t>Enhances productivity by automating time-consuming tasks.</a:t>
                      </a:r>
                    </a:p>
                    <a:p>
                      <a:endParaRPr lang="en-IN" dirty="0"/>
                    </a:p>
                  </a:txBody>
                  <a:tcPr/>
                </a:tc>
                <a:extLst>
                  <a:ext uri="{0D108BD9-81ED-4DB2-BD59-A6C34878D82A}">
                    <a16:rowId xmlns:a16="http://schemas.microsoft.com/office/drawing/2014/main" val="4131676368"/>
                  </a:ext>
                </a:extLst>
              </a:tr>
              <a:tr h="1767576">
                <a:tc>
                  <a:txBody>
                    <a:bodyPr/>
                    <a:lstStyle/>
                    <a:p>
                      <a:r>
                        <a:rPr lang="en-IN" dirty="0"/>
                        <a:t>2.</a:t>
                      </a:r>
                    </a:p>
                  </a:txBody>
                  <a:tcPr/>
                </a:tc>
                <a:tc>
                  <a:txBody>
                    <a:bodyPr/>
                    <a:lstStyle/>
                    <a:p>
                      <a:r>
                        <a:rPr lang="en-IN" dirty="0"/>
                        <a:t>AI Enabled Chatbot</a:t>
                      </a:r>
                    </a:p>
                  </a:txBody>
                  <a:tcPr/>
                </a:tc>
                <a:tc>
                  <a:txBody>
                    <a:bodyPr/>
                    <a:lstStyle/>
                    <a:p>
                      <a:r>
                        <a:rPr lang="en-US" dirty="0"/>
                        <a:t>o Retrospective analysis of chatbot evolution from rule-based systems.</a:t>
                      </a:r>
                    </a:p>
                    <a:p>
                      <a:r>
                        <a:rPr lang="en-US" dirty="0"/>
                        <a:t>o Exploration of AI technologies like NLP and machine learning algorithms.</a:t>
                      </a:r>
                    </a:p>
                    <a:p>
                      <a:endParaRPr lang="en-IN" dirty="0"/>
                    </a:p>
                  </a:txBody>
                  <a:tcPr/>
                </a:tc>
                <a:tc>
                  <a:txBody>
                    <a:bodyPr/>
                    <a:lstStyle/>
                    <a:p>
                      <a:r>
                        <a:rPr lang="en-IN" dirty="0"/>
                        <a:t>-</a:t>
                      </a:r>
                    </a:p>
                  </a:txBody>
                  <a:tcPr/>
                </a:tc>
                <a:tc>
                  <a:txBody>
                    <a:bodyPr/>
                    <a:lstStyle/>
                    <a:p>
                      <a:r>
                        <a:rPr lang="en-IN" dirty="0"/>
                        <a:t>o Challenges in methodologies, technologies, and AI integration.</a:t>
                      </a:r>
                    </a:p>
                    <a:p>
                      <a:r>
                        <a:rPr lang="en-IN" dirty="0"/>
                        <a:t>o Evolution from rule-based to AI-driven conversational agents.</a:t>
                      </a:r>
                    </a:p>
                  </a:txBody>
                  <a:tcPr/>
                </a:tc>
                <a:tc>
                  <a:txBody>
                    <a:bodyPr/>
                    <a:lstStyle/>
                    <a:p>
                      <a:r>
                        <a:rPr lang="en-IN" dirty="0"/>
                        <a:t>Enhances user interactions with sophisticated, intuitive responses.</a:t>
                      </a:r>
                    </a:p>
                    <a:p>
                      <a:r>
                        <a:rPr lang="en-IN" dirty="0"/>
                        <a:t>o Utilizes AI for intelligent comprehension and communication.</a:t>
                      </a:r>
                    </a:p>
                    <a:p>
                      <a:endParaRPr lang="en-IN" dirty="0"/>
                    </a:p>
                  </a:txBody>
                  <a:tcPr/>
                </a:tc>
                <a:extLst>
                  <a:ext uri="{0D108BD9-81ED-4DB2-BD59-A6C34878D82A}">
                    <a16:rowId xmlns:a16="http://schemas.microsoft.com/office/drawing/2014/main" val="232637886"/>
                  </a:ext>
                </a:extLst>
              </a:tr>
              <a:tr h="1404023">
                <a:tc>
                  <a:txBody>
                    <a:bodyPr/>
                    <a:lstStyle/>
                    <a:p>
                      <a:r>
                        <a:rPr lang="en-IN" dirty="0"/>
                        <a:t>3.</a:t>
                      </a:r>
                    </a:p>
                  </a:txBody>
                  <a:tcPr/>
                </a:tc>
                <a:tc>
                  <a:txBody>
                    <a:bodyPr/>
                    <a:lstStyle/>
                    <a:p>
                      <a:r>
                        <a:rPr lang="en-US" dirty="0"/>
                        <a:t>Development of a Legal Chatbot for Comprehensive User Support</a:t>
                      </a:r>
                      <a:endParaRPr lang="en-IN" dirty="0"/>
                    </a:p>
                  </a:txBody>
                  <a:tcPr/>
                </a:tc>
                <a:tc>
                  <a:txBody>
                    <a:bodyPr/>
                    <a:lstStyle/>
                    <a:p>
                      <a:r>
                        <a:rPr lang="en-US" dirty="0"/>
                        <a:t>Integration of Natural Language Processing technology.</a:t>
                      </a:r>
                    </a:p>
                    <a:p>
                      <a:r>
                        <a:rPr lang="en-US" dirty="0"/>
                        <a:t>o Utilization of Artificial Intelligence for user support.</a:t>
                      </a:r>
                    </a:p>
                    <a:p>
                      <a:endParaRPr lang="en-IN" dirty="0"/>
                    </a:p>
                  </a:txBody>
                  <a:tcPr/>
                </a:tc>
                <a:tc>
                  <a:txBody>
                    <a:bodyPr/>
                    <a:lstStyle/>
                    <a:p>
                      <a:r>
                        <a:rPr lang="en-IN" dirty="0"/>
                        <a:t>-</a:t>
                      </a:r>
                    </a:p>
                  </a:txBody>
                  <a:tcPr/>
                </a:tc>
                <a:tc>
                  <a:txBody>
                    <a:bodyPr/>
                    <a:lstStyle/>
                    <a:p>
                      <a:r>
                        <a:rPr lang="en-US" dirty="0"/>
                        <a:t>Conventional legal assistance has significant limitations.</a:t>
                      </a:r>
                    </a:p>
                    <a:p>
                      <a:r>
                        <a:rPr lang="en-US" dirty="0"/>
                        <a:t>Existing systems lack comprehensive user support.</a:t>
                      </a:r>
                    </a:p>
                    <a:p>
                      <a:endParaRPr lang="en-IN" dirty="0"/>
                    </a:p>
                  </a:txBody>
                  <a:tcPr/>
                </a:tc>
                <a:tc>
                  <a:txBody>
                    <a:bodyPr/>
                    <a:lstStyle/>
                    <a:p>
                      <a:r>
                        <a:rPr lang="en-US" dirty="0"/>
                        <a:t>Comprehensive user support through advanced technology integration.</a:t>
                      </a:r>
                    </a:p>
                    <a:p>
                      <a:r>
                        <a:rPr lang="en-US" dirty="0"/>
                        <a:t>o Instantaneous responses to common legal concerns.</a:t>
                      </a:r>
                    </a:p>
                    <a:p>
                      <a:endParaRPr lang="en-IN" dirty="0"/>
                    </a:p>
                  </a:txBody>
                  <a:tcPr/>
                </a:tc>
                <a:extLst>
                  <a:ext uri="{0D108BD9-81ED-4DB2-BD59-A6C34878D82A}">
                    <a16:rowId xmlns:a16="http://schemas.microsoft.com/office/drawing/2014/main" val="1718662236"/>
                  </a:ext>
                </a:extLst>
              </a:tr>
            </a:tbl>
          </a:graphicData>
        </a:graphic>
      </p:graphicFrame>
    </p:spTree>
    <p:extLst>
      <p:ext uri="{BB962C8B-B14F-4D97-AF65-F5344CB8AC3E}">
        <p14:creationId xmlns:p14="http://schemas.microsoft.com/office/powerpoint/2010/main" val="4159470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B401ECF1-8E3E-041C-B5B2-0465C9A3E88E}"/>
              </a:ext>
            </a:extLst>
          </p:cNvPr>
          <p:cNvGraphicFramePr>
            <a:graphicFrameLocks noGrp="1"/>
          </p:cNvGraphicFramePr>
          <p:nvPr>
            <p:extLst>
              <p:ext uri="{D42A27DB-BD31-4B8C-83A1-F6EECF244321}">
                <p14:modId xmlns:p14="http://schemas.microsoft.com/office/powerpoint/2010/main" val="1748034515"/>
              </p:ext>
            </p:extLst>
          </p:nvPr>
        </p:nvGraphicFramePr>
        <p:xfrm>
          <a:off x="196767" y="1073150"/>
          <a:ext cx="11730315" cy="5314416"/>
        </p:xfrm>
        <a:graphic>
          <a:graphicData uri="http://schemas.openxmlformats.org/drawingml/2006/table">
            <a:tbl>
              <a:tblPr firstRow="1" bandRow="1"/>
              <a:tblGrid>
                <a:gridCol w="468252">
                  <a:extLst>
                    <a:ext uri="{9D8B030D-6E8A-4147-A177-3AD203B41FA5}">
                      <a16:colId xmlns:a16="http://schemas.microsoft.com/office/drawing/2014/main" val="147938512"/>
                    </a:ext>
                  </a:extLst>
                </a:gridCol>
                <a:gridCol w="1552887">
                  <a:extLst>
                    <a:ext uri="{9D8B030D-6E8A-4147-A177-3AD203B41FA5}">
                      <a16:colId xmlns:a16="http://schemas.microsoft.com/office/drawing/2014/main" val="854774513"/>
                    </a:ext>
                  </a:extLst>
                </a:gridCol>
                <a:gridCol w="2393005">
                  <a:extLst>
                    <a:ext uri="{9D8B030D-6E8A-4147-A177-3AD203B41FA5}">
                      <a16:colId xmlns:a16="http://schemas.microsoft.com/office/drawing/2014/main" val="1365941747"/>
                    </a:ext>
                  </a:extLst>
                </a:gridCol>
                <a:gridCol w="2509736">
                  <a:extLst>
                    <a:ext uri="{9D8B030D-6E8A-4147-A177-3AD203B41FA5}">
                      <a16:colId xmlns:a16="http://schemas.microsoft.com/office/drawing/2014/main" val="4032138535"/>
                    </a:ext>
                  </a:extLst>
                </a:gridCol>
                <a:gridCol w="2276272">
                  <a:extLst>
                    <a:ext uri="{9D8B030D-6E8A-4147-A177-3AD203B41FA5}">
                      <a16:colId xmlns:a16="http://schemas.microsoft.com/office/drawing/2014/main" val="2926904539"/>
                    </a:ext>
                  </a:extLst>
                </a:gridCol>
                <a:gridCol w="2530163">
                  <a:extLst>
                    <a:ext uri="{9D8B030D-6E8A-4147-A177-3AD203B41FA5}">
                      <a16:colId xmlns:a16="http://schemas.microsoft.com/office/drawing/2014/main" val="3600512802"/>
                    </a:ext>
                  </a:extLst>
                </a:gridCol>
              </a:tblGrid>
              <a:tr h="571037">
                <a:tc>
                  <a:txBody>
                    <a:bodyPr/>
                    <a:lstStyle/>
                    <a:p>
                      <a:r>
                        <a:rPr lang="en-IN" dirty="0"/>
                        <a:t>SL.NO</a:t>
                      </a:r>
                    </a:p>
                  </a:txBody>
                  <a:tcPr/>
                </a:tc>
                <a:tc>
                  <a:txBody>
                    <a:bodyPr/>
                    <a:lstStyle/>
                    <a:p>
                      <a:r>
                        <a:rPr lang="en-IN" dirty="0"/>
                        <a:t>PAPERS</a:t>
                      </a:r>
                    </a:p>
                  </a:txBody>
                  <a:tcPr/>
                </a:tc>
                <a:tc>
                  <a:txBody>
                    <a:bodyPr/>
                    <a:lstStyle/>
                    <a:p>
                      <a:r>
                        <a:rPr lang="en-IN" dirty="0"/>
                        <a:t>METHODS USED</a:t>
                      </a:r>
                    </a:p>
                  </a:txBody>
                  <a:tcPr/>
                </a:tc>
                <a:tc>
                  <a:txBody>
                    <a:bodyPr/>
                    <a:lstStyle/>
                    <a:p>
                      <a:r>
                        <a:rPr lang="en-IN" dirty="0"/>
                        <a:t>RESEARCH GAP</a:t>
                      </a:r>
                    </a:p>
                  </a:txBody>
                  <a:tcPr/>
                </a:tc>
                <a:tc>
                  <a:txBody>
                    <a:bodyPr/>
                    <a:lstStyle/>
                    <a:p>
                      <a:r>
                        <a:rPr lang="en-IN" dirty="0"/>
                        <a:t>LIMITATIONS</a:t>
                      </a:r>
                    </a:p>
                  </a:txBody>
                  <a:tcPr/>
                </a:tc>
                <a:tc>
                  <a:txBody>
                    <a:bodyPr/>
                    <a:lstStyle/>
                    <a:p>
                      <a:r>
                        <a:rPr lang="en-IN" dirty="0"/>
                        <a:t>ADVANTAGES</a:t>
                      </a:r>
                    </a:p>
                  </a:txBody>
                  <a:tcPr/>
                </a:tc>
                <a:extLst>
                  <a:ext uri="{0D108BD9-81ED-4DB2-BD59-A6C34878D82A}">
                    <a16:rowId xmlns:a16="http://schemas.microsoft.com/office/drawing/2014/main" val="2314826159"/>
                  </a:ext>
                </a:extLst>
              </a:tr>
              <a:tr h="1390843">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Law Chatbot</a:t>
                      </a:r>
                    </a:p>
                    <a:p>
                      <a:endParaRPr lang="en-IN" dirty="0"/>
                    </a:p>
                  </a:txBody>
                  <a:tcPr/>
                </a:tc>
                <a:tc>
                  <a:txBody>
                    <a:bodyPr/>
                    <a:lstStyle/>
                    <a:p>
                      <a:r>
                        <a:rPr lang="en-US" dirty="0"/>
                        <a:t>Text retrieval and generation.</a:t>
                      </a:r>
                    </a:p>
                    <a:p>
                      <a:r>
                        <a:rPr lang="en-US" dirty="0"/>
                        <a:t>Leveraging AI for personalized responses.</a:t>
                      </a:r>
                    </a:p>
                    <a:p>
                      <a:endParaRPr lang="en-IN" dirty="0"/>
                    </a:p>
                  </a:txBody>
                  <a:tcPr/>
                </a:tc>
                <a:tc>
                  <a:txBody>
                    <a:bodyPr/>
                    <a:lstStyle/>
                    <a:p>
                      <a:r>
                        <a:rPr lang="en-IN" dirty="0"/>
                        <a:t>-</a:t>
                      </a:r>
                    </a:p>
                  </a:txBody>
                  <a:tcPr/>
                </a:tc>
                <a:tc>
                  <a:txBody>
                    <a:bodyPr/>
                    <a:lstStyle/>
                    <a:p>
                      <a:r>
                        <a:rPr lang="en-IN" dirty="0"/>
                        <a:t>-</a:t>
                      </a:r>
                    </a:p>
                  </a:txBody>
                  <a:tcPr/>
                </a:tc>
                <a:tc>
                  <a:txBody>
                    <a:bodyPr/>
                    <a:lstStyle/>
                    <a:p>
                      <a:r>
                        <a:rPr lang="en-US" dirty="0"/>
                        <a:t>Instant legal advice and guidance available 24/7.</a:t>
                      </a:r>
                    </a:p>
                    <a:p>
                      <a:r>
                        <a:rPr lang="en-US" dirty="0"/>
                        <a:t>Empowers users to navigate complex legal issues affordably.</a:t>
                      </a:r>
                    </a:p>
                  </a:txBody>
                  <a:tcPr/>
                </a:tc>
                <a:extLst>
                  <a:ext uri="{0D108BD9-81ED-4DB2-BD59-A6C34878D82A}">
                    <a16:rowId xmlns:a16="http://schemas.microsoft.com/office/drawing/2014/main" val="4131676368"/>
                  </a:ext>
                </a:extLst>
              </a:tr>
              <a:tr h="1767576">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Generative vs Intent-based Chatbot for Judicial Advice</a:t>
                      </a:r>
                    </a:p>
                    <a:p>
                      <a:endParaRPr lang="en-IN" dirty="0"/>
                    </a:p>
                  </a:txBody>
                  <a:tcPr/>
                </a:tc>
                <a:tc>
                  <a:txBody>
                    <a:bodyPr/>
                    <a:lstStyle/>
                    <a:p>
                      <a:r>
                        <a:rPr lang="en-US" dirty="0"/>
                        <a:t>Generative chatbot with custom dataset of 100 conversations.</a:t>
                      </a:r>
                    </a:p>
                    <a:p>
                      <a:r>
                        <a:rPr lang="en-US" dirty="0"/>
                        <a:t>Intent-based chatbot with 36 intents based on Indian laws.</a:t>
                      </a:r>
                    </a:p>
                    <a:p>
                      <a:endParaRPr lang="en-IN" dirty="0"/>
                    </a:p>
                  </a:txBody>
                  <a:tcPr/>
                </a:tc>
                <a:tc>
                  <a:txBody>
                    <a:bodyPr/>
                    <a:lstStyle/>
                    <a:p>
                      <a:r>
                        <a:rPr lang="en-US" dirty="0"/>
                        <a:t>Comparison of generative vs intent-based chatbots in the legal domain.</a:t>
                      </a:r>
                    </a:p>
                    <a:p>
                      <a:r>
                        <a:rPr lang="en-US" dirty="0"/>
                        <a:t>Evaluation of user experience with judicial advice chatbots.</a:t>
                      </a:r>
                    </a:p>
                    <a:p>
                      <a:endParaRPr lang="en-IN" dirty="0"/>
                    </a:p>
                  </a:txBody>
                  <a:tcPr/>
                </a:tc>
                <a:tc>
                  <a:txBody>
                    <a:bodyPr/>
                    <a:lstStyle/>
                    <a:p>
                      <a:r>
                        <a:rPr lang="en-US" dirty="0"/>
                        <a:t>Limitations of generative and intent-based chatbots discussed.</a:t>
                      </a:r>
                    </a:p>
                    <a:p>
                      <a:r>
                        <a:rPr lang="en-US" dirty="0"/>
                        <a:t>Specific limitations not detailed in the abstract.</a:t>
                      </a:r>
                    </a:p>
                    <a:p>
                      <a:endParaRPr lang="en-IN" dirty="0"/>
                    </a:p>
                  </a:txBody>
                  <a:tcPr/>
                </a:tc>
                <a:tc>
                  <a:txBody>
                    <a:bodyPr/>
                    <a:lstStyle/>
                    <a:p>
                      <a:r>
                        <a:rPr lang="en-US" dirty="0"/>
                        <a:t>Generative chatbot offers flexible, context-aware responses.</a:t>
                      </a:r>
                    </a:p>
                    <a:p>
                      <a:r>
                        <a:rPr lang="en-US" dirty="0"/>
                        <a:t>o Intent-based chatbot provides structured, specific legal advice.</a:t>
                      </a:r>
                    </a:p>
                    <a:p>
                      <a:endParaRPr lang="en-IN" dirty="0"/>
                    </a:p>
                  </a:txBody>
                  <a:tcPr/>
                </a:tc>
                <a:extLst>
                  <a:ext uri="{0D108BD9-81ED-4DB2-BD59-A6C34878D82A}">
                    <a16:rowId xmlns:a16="http://schemas.microsoft.com/office/drawing/2014/main" val="232637886"/>
                  </a:ext>
                </a:extLst>
              </a:tr>
              <a:tr h="1404023">
                <a:tc>
                  <a:txBody>
                    <a:bodyPr/>
                    <a:lstStyle/>
                    <a:p>
                      <a:r>
                        <a:rPr lang="en-IN" dirty="0"/>
                        <a:t>6.</a:t>
                      </a:r>
                    </a:p>
                  </a:txBody>
                  <a:tcPr/>
                </a:tc>
                <a:tc>
                  <a:txBody>
                    <a:bodyPr/>
                    <a:lstStyle/>
                    <a:p>
                      <a:r>
                        <a:rPr lang="en-US" dirty="0"/>
                        <a:t>Legal Ease Chatbot – Bridging Legal Knowledge Gaps for Marginalized Communities</a:t>
                      </a:r>
                    </a:p>
                  </a:txBody>
                  <a:tcPr/>
                </a:tc>
                <a:tc>
                  <a:txBody>
                    <a:bodyPr/>
                    <a:lstStyle/>
                    <a:p>
                      <a:r>
                        <a:rPr lang="en-US" dirty="0"/>
                        <a:t>AI and chatbot technology for legal support.</a:t>
                      </a:r>
                    </a:p>
                    <a:p>
                      <a:r>
                        <a:rPr lang="en-US" dirty="0"/>
                        <a:t>Features include legal information, personalized advice, and referrals.</a:t>
                      </a:r>
                    </a:p>
                    <a:p>
                      <a:endParaRPr lang="en-IN" dirty="0"/>
                    </a:p>
                  </a:txBody>
                  <a:tcPr/>
                </a:tc>
                <a:tc>
                  <a:txBody>
                    <a:bodyPr/>
                    <a:lstStyle/>
                    <a:p>
                      <a:r>
                        <a:rPr lang="en-IN" dirty="0"/>
                        <a:t>-</a:t>
                      </a:r>
                    </a:p>
                  </a:txBody>
                  <a:tcPr/>
                </a:tc>
                <a:tc>
                  <a:txBody>
                    <a:bodyPr/>
                    <a:lstStyle/>
                    <a:p>
                      <a:r>
                        <a:rPr lang="en-IN" dirty="0"/>
                        <a:t>-</a:t>
                      </a:r>
                    </a:p>
                  </a:txBody>
                  <a:tcPr/>
                </a:tc>
                <a:tc>
                  <a:txBody>
                    <a:bodyPr/>
                    <a:lstStyle/>
                    <a:p>
                      <a:r>
                        <a:rPr lang="en-US" dirty="0"/>
                        <a:t>Provides timely and accessible legal support services.</a:t>
                      </a:r>
                    </a:p>
                    <a:p>
                      <a:r>
                        <a:rPr lang="en-US" dirty="0"/>
                        <a:t>o Empowers marginalized communities to navigate the legal system.</a:t>
                      </a:r>
                    </a:p>
                    <a:p>
                      <a:endParaRPr lang="en-IN" dirty="0"/>
                    </a:p>
                  </a:txBody>
                  <a:tcPr/>
                </a:tc>
                <a:extLst>
                  <a:ext uri="{0D108BD9-81ED-4DB2-BD59-A6C34878D82A}">
                    <a16:rowId xmlns:a16="http://schemas.microsoft.com/office/drawing/2014/main" val="1718662236"/>
                  </a:ext>
                </a:extLst>
              </a:tr>
            </a:tbl>
          </a:graphicData>
        </a:graphic>
      </p:graphicFrame>
    </p:spTree>
    <p:extLst>
      <p:ext uri="{BB962C8B-B14F-4D97-AF65-F5344CB8AC3E}">
        <p14:creationId xmlns:p14="http://schemas.microsoft.com/office/powerpoint/2010/main" val="372519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7FDEE33-96A4-1DB2-C466-B39AC033F354}"/>
              </a:ext>
            </a:extLst>
          </p:cNvPr>
          <p:cNvGraphicFramePr>
            <a:graphicFrameLocks noGrp="1"/>
          </p:cNvGraphicFramePr>
          <p:nvPr>
            <p:extLst>
              <p:ext uri="{D42A27DB-BD31-4B8C-83A1-F6EECF244321}">
                <p14:modId xmlns:p14="http://schemas.microsoft.com/office/powerpoint/2010/main" val="3794259969"/>
              </p:ext>
            </p:extLst>
          </p:nvPr>
        </p:nvGraphicFramePr>
        <p:xfrm>
          <a:off x="196767" y="1073150"/>
          <a:ext cx="11730315" cy="5539277"/>
        </p:xfrm>
        <a:graphic>
          <a:graphicData uri="http://schemas.openxmlformats.org/drawingml/2006/table">
            <a:tbl>
              <a:tblPr firstRow="1" bandRow="1"/>
              <a:tblGrid>
                <a:gridCol w="468252">
                  <a:extLst>
                    <a:ext uri="{9D8B030D-6E8A-4147-A177-3AD203B41FA5}">
                      <a16:colId xmlns:a16="http://schemas.microsoft.com/office/drawing/2014/main" val="147938512"/>
                    </a:ext>
                  </a:extLst>
                </a:gridCol>
                <a:gridCol w="1650164">
                  <a:extLst>
                    <a:ext uri="{9D8B030D-6E8A-4147-A177-3AD203B41FA5}">
                      <a16:colId xmlns:a16="http://schemas.microsoft.com/office/drawing/2014/main" val="854774513"/>
                    </a:ext>
                  </a:extLst>
                </a:gridCol>
                <a:gridCol w="2592097">
                  <a:extLst>
                    <a:ext uri="{9D8B030D-6E8A-4147-A177-3AD203B41FA5}">
                      <a16:colId xmlns:a16="http://schemas.microsoft.com/office/drawing/2014/main" val="1365941747"/>
                    </a:ext>
                  </a:extLst>
                </a:gridCol>
                <a:gridCol w="2468880">
                  <a:extLst>
                    <a:ext uri="{9D8B030D-6E8A-4147-A177-3AD203B41FA5}">
                      <a16:colId xmlns:a16="http://schemas.microsoft.com/office/drawing/2014/main" val="4032138535"/>
                    </a:ext>
                  </a:extLst>
                </a:gridCol>
                <a:gridCol w="2225040">
                  <a:extLst>
                    <a:ext uri="{9D8B030D-6E8A-4147-A177-3AD203B41FA5}">
                      <a16:colId xmlns:a16="http://schemas.microsoft.com/office/drawing/2014/main" val="2926904539"/>
                    </a:ext>
                  </a:extLst>
                </a:gridCol>
                <a:gridCol w="2325882">
                  <a:extLst>
                    <a:ext uri="{9D8B030D-6E8A-4147-A177-3AD203B41FA5}">
                      <a16:colId xmlns:a16="http://schemas.microsoft.com/office/drawing/2014/main" val="3600512802"/>
                    </a:ext>
                  </a:extLst>
                </a:gridCol>
              </a:tblGrid>
              <a:tr h="571037">
                <a:tc>
                  <a:txBody>
                    <a:bodyPr/>
                    <a:lstStyle/>
                    <a:p>
                      <a:r>
                        <a:rPr lang="en-IN" dirty="0"/>
                        <a:t>SL.NO</a:t>
                      </a:r>
                    </a:p>
                  </a:txBody>
                  <a:tcPr/>
                </a:tc>
                <a:tc>
                  <a:txBody>
                    <a:bodyPr/>
                    <a:lstStyle/>
                    <a:p>
                      <a:r>
                        <a:rPr lang="en-IN" dirty="0"/>
                        <a:t>PAPERS</a:t>
                      </a:r>
                    </a:p>
                  </a:txBody>
                  <a:tcPr/>
                </a:tc>
                <a:tc>
                  <a:txBody>
                    <a:bodyPr/>
                    <a:lstStyle/>
                    <a:p>
                      <a:r>
                        <a:rPr lang="en-IN" dirty="0"/>
                        <a:t>METHODS USED</a:t>
                      </a:r>
                    </a:p>
                  </a:txBody>
                  <a:tcPr/>
                </a:tc>
                <a:tc>
                  <a:txBody>
                    <a:bodyPr/>
                    <a:lstStyle/>
                    <a:p>
                      <a:r>
                        <a:rPr lang="en-IN" dirty="0"/>
                        <a:t>RESEARCH GAP</a:t>
                      </a:r>
                    </a:p>
                  </a:txBody>
                  <a:tcPr/>
                </a:tc>
                <a:tc>
                  <a:txBody>
                    <a:bodyPr/>
                    <a:lstStyle/>
                    <a:p>
                      <a:r>
                        <a:rPr lang="en-IN" dirty="0"/>
                        <a:t>LIMITATIONS</a:t>
                      </a:r>
                    </a:p>
                  </a:txBody>
                  <a:tcPr/>
                </a:tc>
                <a:tc>
                  <a:txBody>
                    <a:bodyPr/>
                    <a:lstStyle/>
                    <a:p>
                      <a:r>
                        <a:rPr lang="en-IN" dirty="0"/>
                        <a:t>ADVANTAGES</a:t>
                      </a:r>
                    </a:p>
                  </a:txBody>
                  <a:tcPr/>
                </a:tc>
                <a:extLst>
                  <a:ext uri="{0D108BD9-81ED-4DB2-BD59-A6C34878D82A}">
                    <a16:rowId xmlns:a16="http://schemas.microsoft.com/office/drawing/2014/main" val="2314826159"/>
                  </a:ext>
                </a:extLst>
              </a:tr>
              <a:tr h="1767576">
                <a:tc>
                  <a:txBody>
                    <a:bodyPr/>
                    <a:lstStyle/>
                    <a:p>
                      <a:r>
                        <a:rPr lang="en-IN" dirty="0"/>
                        <a:t>7.</a:t>
                      </a:r>
                    </a:p>
                  </a:txBody>
                  <a:tcPr/>
                </a:tc>
                <a:tc>
                  <a:txBody>
                    <a:bodyPr/>
                    <a:lstStyle/>
                    <a:p>
                      <a:r>
                        <a:rPr lang="en-US" dirty="0"/>
                        <a:t>Design and Implementation of a Chatbot for Automated Legal Assistance using Natural Language Processing and Machine Learning</a:t>
                      </a:r>
                      <a:endParaRPr lang="en-IN" dirty="0"/>
                    </a:p>
                  </a:txBody>
                  <a:tcPr/>
                </a:tc>
                <a:tc>
                  <a:txBody>
                    <a:bodyPr/>
                    <a:lstStyle/>
                    <a:p>
                      <a:r>
                        <a:rPr lang="en-US" dirty="0"/>
                        <a:t>NLP and machine learning algorithms utilized for legal assistance system.</a:t>
                      </a:r>
                    </a:p>
                    <a:p>
                      <a:r>
                        <a:rPr lang="en-US" dirty="0"/>
                        <a:t>Laws ranked based on hits and losses, retrieved by similarity.</a:t>
                      </a:r>
                    </a:p>
                  </a:txBody>
                  <a:tcPr/>
                </a:tc>
                <a:tc>
                  <a:txBody>
                    <a:bodyPr/>
                    <a:lstStyle/>
                    <a:p>
                      <a:r>
                        <a:rPr lang="en-US" dirty="0"/>
                        <a:t>o Further research on case law analysis, contract review, legal drafting.</a:t>
                      </a:r>
                    </a:p>
                    <a:p>
                      <a:r>
                        <a:rPr lang="en-US" dirty="0"/>
                        <a:t>o Enhancing system capabilities and expanding usefulness through additional features.</a:t>
                      </a:r>
                    </a:p>
                  </a:txBody>
                  <a:tcPr/>
                </a:tc>
                <a:tc>
                  <a:txBody>
                    <a:bodyPr/>
                    <a:lstStyle/>
                    <a:p>
                      <a:r>
                        <a:rPr lang="en-IN" dirty="0"/>
                        <a:t>-</a:t>
                      </a:r>
                    </a:p>
                  </a:txBody>
                  <a:tcPr/>
                </a:tc>
                <a:tc>
                  <a:txBody>
                    <a:bodyPr/>
                    <a:lstStyle/>
                    <a:p>
                      <a:r>
                        <a:rPr lang="en-US" dirty="0"/>
                        <a:t>Reduces errors in legal research significantly.</a:t>
                      </a:r>
                    </a:p>
                    <a:p>
                      <a:r>
                        <a:rPr lang="en-US" dirty="0"/>
                        <a:t>Provides fast, efficient, and accurate legal assistance.</a:t>
                      </a:r>
                    </a:p>
                  </a:txBody>
                  <a:tcPr/>
                </a:tc>
                <a:extLst>
                  <a:ext uri="{0D108BD9-81ED-4DB2-BD59-A6C34878D82A}">
                    <a16:rowId xmlns:a16="http://schemas.microsoft.com/office/drawing/2014/main" val="4131676368"/>
                  </a:ext>
                </a:extLst>
              </a:tr>
              <a:tr h="1510493">
                <a:tc>
                  <a:txBody>
                    <a:bodyPr/>
                    <a:lstStyle/>
                    <a:p>
                      <a:r>
                        <a:rPr lang="en-IN" dirty="0"/>
                        <a:t>8.</a:t>
                      </a:r>
                    </a:p>
                  </a:txBody>
                  <a:tcPr/>
                </a:tc>
                <a:tc>
                  <a:txBody>
                    <a:bodyPr/>
                    <a:lstStyle/>
                    <a:p>
                      <a:r>
                        <a:rPr lang="en-IN" dirty="0" err="1"/>
                        <a:t>Llm</a:t>
                      </a:r>
                      <a:r>
                        <a:rPr lang="en-IN" dirty="0"/>
                        <a:t> enhanced ai chatbot</a:t>
                      </a:r>
                    </a:p>
                  </a:txBody>
                  <a:tcPr/>
                </a:tc>
                <a:tc>
                  <a:txBody>
                    <a:bodyPr/>
                    <a:lstStyle/>
                    <a:p>
                      <a:r>
                        <a:rPr lang="en-US" dirty="0"/>
                        <a:t>Natural Language Processing (NLP) techniques.</a:t>
                      </a:r>
                    </a:p>
                    <a:p>
                      <a:r>
                        <a:rPr lang="en-US" dirty="0"/>
                        <a:t>Model optimization for efficiency and reduced latency.</a:t>
                      </a:r>
                    </a:p>
                    <a:p>
                      <a:endParaRPr lang="en-IN" dirty="0"/>
                    </a:p>
                  </a:txBody>
                  <a:tcPr/>
                </a:tc>
                <a:tc>
                  <a:txBody>
                    <a:bodyPr/>
                    <a:lstStyle/>
                    <a:p>
                      <a:r>
                        <a:rPr lang="en-US" dirty="0"/>
                        <a:t>Improving model robustness for various applications.</a:t>
                      </a:r>
                    </a:p>
                    <a:p>
                      <a:r>
                        <a:rPr lang="en-US" dirty="0"/>
                        <a:t>Incorporating ethical guardrails for responsible LLM use.</a:t>
                      </a:r>
                    </a:p>
                    <a:p>
                      <a:endParaRPr lang="en-IN" dirty="0"/>
                    </a:p>
                  </a:txBody>
                  <a:tcPr/>
                </a:tc>
                <a:tc>
                  <a:txBody>
                    <a:bodyPr/>
                    <a:lstStyle/>
                    <a:p>
                      <a:r>
                        <a:rPr lang="en-US" dirty="0"/>
                        <a:t>Limited resources for offline deployment and model optimization.</a:t>
                      </a:r>
                    </a:p>
                    <a:p>
                      <a:r>
                        <a:rPr lang="en-US" dirty="0"/>
                        <a:t>Need for ethical guardrails in sensitive fields.</a:t>
                      </a:r>
                    </a:p>
                    <a:p>
                      <a:endParaRPr lang="en-IN" dirty="0"/>
                    </a:p>
                  </a:txBody>
                  <a:tcPr/>
                </a:tc>
                <a:tc>
                  <a:txBody>
                    <a:bodyPr/>
                    <a:lstStyle/>
                    <a:p>
                      <a:r>
                        <a:rPr lang="en-US" dirty="0"/>
                        <a:t>Autonomous operation without internet connection.</a:t>
                      </a:r>
                    </a:p>
                    <a:p>
                      <a:r>
                        <a:rPr lang="en-US" dirty="0"/>
                        <a:t>Supports text summarization and file uploads.</a:t>
                      </a:r>
                    </a:p>
                    <a:p>
                      <a:endParaRPr lang="en-IN" dirty="0"/>
                    </a:p>
                  </a:txBody>
                  <a:tcPr/>
                </a:tc>
                <a:extLst>
                  <a:ext uri="{0D108BD9-81ED-4DB2-BD59-A6C34878D82A}">
                    <a16:rowId xmlns:a16="http://schemas.microsoft.com/office/drawing/2014/main" val="232637886"/>
                  </a:ext>
                </a:extLst>
              </a:tr>
              <a:tr h="1404023">
                <a:tc>
                  <a:txBody>
                    <a:bodyPr/>
                    <a:lstStyle/>
                    <a:p>
                      <a:r>
                        <a:rPr lang="en-IN" dirty="0"/>
                        <a:t>9.</a:t>
                      </a:r>
                    </a:p>
                  </a:txBody>
                  <a:tcPr/>
                </a:tc>
                <a:tc>
                  <a:txBody>
                    <a:bodyPr/>
                    <a:lstStyle/>
                    <a:p>
                      <a:r>
                        <a:rPr lang="en-US" dirty="0"/>
                        <a:t>Legal Solutions - Intelligent Chatbot using Machine Learning</a:t>
                      </a:r>
                      <a:endParaRPr lang="en-IN" dirty="0"/>
                    </a:p>
                  </a:txBody>
                  <a:tcPr/>
                </a:tc>
                <a:tc>
                  <a:txBody>
                    <a:bodyPr/>
                    <a:lstStyle/>
                    <a:p>
                      <a:r>
                        <a:rPr lang="en-US" dirty="0"/>
                        <a:t>Chatbot architecture and NLP techniques outlined.</a:t>
                      </a:r>
                    </a:p>
                    <a:p>
                      <a:r>
                        <a:rPr lang="en-US" dirty="0"/>
                        <a:t>Machine learning algorithms for information retrieval and processing.</a:t>
                      </a:r>
                    </a:p>
                    <a:p>
                      <a:endParaRPr lang="en-IN" dirty="0"/>
                    </a:p>
                  </a:txBody>
                  <a:tcPr/>
                </a:tc>
                <a:tc>
                  <a:txBody>
                    <a:bodyPr/>
                    <a:lstStyle/>
                    <a:p>
                      <a:r>
                        <a:rPr lang="en-IN" dirty="0"/>
                        <a:t>-</a:t>
                      </a:r>
                    </a:p>
                  </a:txBody>
                  <a:tcPr/>
                </a:tc>
                <a:tc>
                  <a:txBody>
                    <a:bodyPr/>
                    <a:lstStyle/>
                    <a:p>
                      <a:r>
                        <a:rPr lang="en-IN" dirty="0"/>
                        <a:t>-</a:t>
                      </a:r>
                    </a:p>
                  </a:txBody>
                  <a:tcPr/>
                </a:tc>
                <a:tc>
                  <a:txBody>
                    <a:bodyPr/>
                    <a:lstStyle/>
                    <a:p>
                      <a:r>
                        <a:rPr lang="en-US" dirty="0"/>
                        <a:t>Provides fundamental legal knowledge and personalized instructions.</a:t>
                      </a:r>
                    </a:p>
                    <a:p>
                      <a:r>
                        <a:rPr lang="en-US" dirty="0"/>
                        <a:t>Enables real-time discussions with qualified attorneys.</a:t>
                      </a:r>
                    </a:p>
                    <a:p>
                      <a:endParaRPr lang="en-IN" dirty="0"/>
                    </a:p>
                  </a:txBody>
                  <a:tcPr/>
                </a:tc>
                <a:extLst>
                  <a:ext uri="{0D108BD9-81ED-4DB2-BD59-A6C34878D82A}">
                    <a16:rowId xmlns:a16="http://schemas.microsoft.com/office/drawing/2014/main" val="1718662236"/>
                  </a:ext>
                </a:extLst>
              </a:tr>
            </a:tbl>
          </a:graphicData>
        </a:graphic>
      </p:graphicFrame>
    </p:spTree>
    <p:extLst>
      <p:ext uri="{BB962C8B-B14F-4D97-AF65-F5344CB8AC3E}">
        <p14:creationId xmlns:p14="http://schemas.microsoft.com/office/powerpoint/2010/main" val="281437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3AFB708-020C-9D07-B0DB-EFD280ACBC5B}"/>
              </a:ext>
            </a:extLst>
          </p:cNvPr>
          <p:cNvGraphicFramePr>
            <a:graphicFrameLocks noGrp="1"/>
          </p:cNvGraphicFramePr>
          <p:nvPr>
            <p:extLst>
              <p:ext uri="{D42A27DB-BD31-4B8C-83A1-F6EECF244321}">
                <p14:modId xmlns:p14="http://schemas.microsoft.com/office/powerpoint/2010/main" val="2549149889"/>
              </p:ext>
            </p:extLst>
          </p:nvPr>
        </p:nvGraphicFramePr>
        <p:xfrm>
          <a:off x="230843" y="1024164"/>
          <a:ext cx="11721673" cy="5122073"/>
        </p:xfrm>
        <a:graphic>
          <a:graphicData uri="http://schemas.openxmlformats.org/drawingml/2006/table">
            <a:tbl>
              <a:tblPr firstRow="1" bandRow="1"/>
              <a:tblGrid>
                <a:gridCol w="467907">
                  <a:extLst>
                    <a:ext uri="{9D8B030D-6E8A-4147-A177-3AD203B41FA5}">
                      <a16:colId xmlns:a16="http://schemas.microsoft.com/office/drawing/2014/main" val="147938512"/>
                    </a:ext>
                  </a:extLst>
                </a:gridCol>
                <a:gridCol w="2109764">
                  <a:extLst>
                    <a:ext uri="{9D8B030D-6E8A-4147-A177-3AD203B41FA5}">
                      <a16:colId xmlns:a16="http://schemas.microsoft.com/office/drawing/2014/main" val="854774513"/>
                    </a:ext>
                  </a:extLst>
                </a:gridCol>
                <a:gridCol w="2824843">
                  <a:extLst>
                    <a:ext uri="{9D8B030D-6E8A-4147-A177-3AD203B41FA5}">
                      <a16:colId xmlns:a16="http://schemas.microsoft.com/office/drawing/2014/main" val="1365941747"/>
                    </a:ext>
                  </a:extLst>
                </a:gridCol>
                <a:gridCol w="1058013">
                  <a:extLst>
                    <a:ext uri="{9D8B030D-6E8A-4147-A177-3AD203B41FA5}">
                      <a16:colId xmlns:a16="http://schemas.microsoft.com/office/drawing/2014/main" val="4032138535"/>
                    </a:ext>
                  </a:extLst>
                </a:gridCol>
                <a:gridCol w="2519968">
                  <a:extLst>
                    <a:ext uri="{9D8B030D-6E8A-4147-A177-3AD203B41FA5}">
                      <a16:colId xmlns:a16="http://schemas.microsoft.com/office/drawing/2014/main" val="2926904539"/>
                    </a:ext>
                  </a:extLst>
                </a:gridCol>
                <a:gridCol w="2741178">
                  <a:extLst>
                    <a:ext uri="{9D8B030D-6E8A-4147-A177-3AD203B41FA5}">
                      <a16:colId xmlns:a16="http://schemas.microsoft.com/office/drawing/2014/main" val="3600512802"/>
                    </a:ext>
                  </a:extLst>
                </a:gridCol>
              </a:tblGrid>
              <a:tr h="589005">
                <a:tc>
                  <a:txBody>
                    <a:bodyPr/>
                    <a:lstStyle/>
                    <a:p>
                      <a:r>
                        <a:rPr lang="en-IN" dirty="0"/>
                        <a:t>SL.NO</a:t>
                      </a:r>
                    </a:p>
                  </a:txBody>
                  <a:tcPr/>
                </a:tc>
                <a:tc>
                  <a:txBody>
                    <a:bodyPr/>
                    <a:lstStyle/>
                    <a:p>
                      <a:r>
                        <a:rPr lang="en-IN" dirty="0"/>
                        <a:t>PAPERS</a:t>
                      </a:r>
                    </a:p>
                  </a:txBody>
                  <a:tcPr/>
                </a:tc>
                <a:tc>
                  <a:txBody>
                    <a:bodyPr/>
                    <a:lstStyle/>
                    <a:p>
                      <a:r>
                        <a:rPr lang="en-IN" dirty="0"/>
                        <a:t>METHODS USED</a:t>
                      </a:r>
                    </a:p>
                  </a:txBody>
                  <a:tcPr/>
                </a:tc>
                <a:tc>
                  <a:txBody>
                    <a:bodyPr/>
                    <a:lstStyle/>
                    <a:p>
                      <a:r>
                        <a:rPr lang="en-IN" dirty="0"/>
                        <a:t>RESEARCH GAP</a:t>
                      </a:r>
                    </a:p>
                  </a:txBody>
                  <a:tcPr/>
                </a:tc>
                <a:tc>
                  <a:txBody>
                    <a:bodyPr/>
                    <a:lstStyle/>
                    <a:p>
                      <a:r>
                        <a:rPr lang="en-IN" dirty="0"/>
                        <a:t>LIMITATIONS</a:t>
                      </a:r>
                    </a:p>
                  </a:txBody>
                  <a:tcPr/>
                </a:tc>
                <a:tc>
                  <a:txBody>
                    <a:bodyPr/>
                    <a:lstStyle/>
                    <a:p>
                      <a:r>
                        <a:rPr lang="en-IN" dirty="0"/>
                        <a:t>ADVANTAGES</a:t>
                      </a:r>
                    </a:p>
                  </a:txBody>
                  <a:tcPr/>
                </a:tc>
                <a:extLst>
                  <a:ext uri="{0D108BD9-81ED-4DB2-BD59-A6C34878D82A}">
                    <a16:rowId xmlns:a16="http://schemas.microsoft.com/office/drawing/2014/main" val="2314826159"/>
                  </a:ext>
                </a:extLst>
              </a:tr>
              <a:tr h="1570902">
                <a:tc>
                  <a:txBody>
                    <a:bodyPr/>
                    <a:lstStyle/>
                    <a:p>
                      <a:r>
                        <a:rPr lang="en-IN" dirty="0"/>
                        <a:t>10.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Enhancing Website Through Chatbot Integration</a:t>
                      </a:r>
                    </a:p>
                  </a:txBody>
                  <a:tcPr/>
                </a:tc>
                <a:tc>
                  <a:txBody>
                    <a:bodyPr/>
                    <a:lstStyle/>
                    <a:p>
                      <a:r>
                        <a:rPr lang="en-US" dirty="0" err="1"/>
                        <a:t>Dialogflow</a:t>
                      </a:r>
                      <a:r>
                        <a:rPr lang="en-US" dirty="0"/>
                        <a:t> technology used to create chatbot for website integration.</a:t>
                      </a:r>
                    </a:p>
                    <a:p>
                      <a:r>
                        <a:rPr lang="en-US" dirty="0"/>
                        <a:t>Chatbot models utilize machine learning powered by fast API.</a:t>
                      </a:r>
                    </a:p>
                    <a:p>
                      <a:endParaRPr lang="en-IN" dirty="0"/>
                    </a:p>
                  </a:txBody>
                  <a:tcPr/>
                </a:tc>
                <a:tc>
                  <a:txBody>
                    <a:bodyPr/>
                    <a:lstStyle/>
                    <a:p>
                      <a:r>
                        <a:rPr lang="en-IN" dirty="0"/>
                        <a:t>-</a:t>
                      </a:r>
                    </a:p>
                  </a:txBody>
                  <a:tcPr/>
                </a:tc>
                <a:tc>
                  <a:txBody>
                    <a:bodyPr/>
                    <a:lstStyle/>
                    <a:p>
                      <a:r>
                        <a:rPr lang="en-IN" dirty="0"/>
                        <a:t>-</a:t>
                      </a:r>
                    </a:p>
                  </a:txBody>
                  <a:tcPr/>
                </a:tc>
                <a:tc>
                  <a:txBody>
                    <a:bodyPr/>
                    <a:lstStyle/>
                    <a:p>
                      <a:r>
                        <a:rPr lang="en-US" dirty="0"/>
                        <a:t>Works 24/7, increasing productivity and minimizing errors.</a:t>
                      </a:r>
                    </a:p>
                    <a:p>
                      <a:r>
                        <a:rPr lang="en-US" dirty="0"/>
                        <a:t>Provides accurate responses through NLP and machine learning.</a:t>
                      </a:r>
                    </a:p>
                    <a:p>
                      <a:endParaRPr lang="en-IN" dirty="0"/>
                    </a:p>
                  </a:txBody>
                  <a:tcPr/>
                </a:tc>
                <a:extLst>
                  <a:ext uri="{0D108BD9-81ED-4DB2-BD59-A6C34878D82A}">
                    <a16:rowId xmlns:a16="http://schemas.microsoft.com/office/drawing/2014/main" val="4131676368"/>
                  </a:ext>
                </a:extLst>
              </a:tr>
              <a:tr h="1499907">
                <a:tc>
                  <a:txBody>
                    <a:bodyPr/>
                    <a:lstStyle/>
                    <a:p>
                      <a:r>
                        <a:rPr lang="en-IN" dirty="0"/>
                        <a:t>11.</a:t>
                      </a:r>
                    </a:p>
                  </a:txBody>
                  <a:tcPr/>
                </a:tc>
                <a:tc>
                  <a:txBody>
                    <a:bodyPr/>
                    <a:lstStyle/>
                    <a:p>
                      <a:r>
                        <a:rPr lang="en-US" dirty="0"/>
                        <a:t>The AI enabled Chatbot Framework for Intelligent Citizen-Government Interaction for Delivery of Services</a:t>
                      </a:r>
                      <a:endParaRPr lang="en-IN" dirty="0"/>
                    </a:p>
                  </a:txBody>
                  <a:tcPr/>
                </a:tc>
                <a:tc>
                  <a:txBody>
                    <a:bodyPr/>
                    <a:lstStyle/>
                    <a:p>
                      <a:r>
                        <a:rPr lang="en-US" dirty="0"/>
                        <a:t>Semantic modeling of domain knowledge.</a:t>
                      </a:r>
                    </a:p>
                    <a:p>
                      <a:r>
                        <a:rPr lang="en-US" dirty="0"/>
                        <a:t>Google </a:t>
                      </a:r>
                      <a:r>
                        <a:rPr lang="en-US" dirty="0" err="1"/>
                        <a:t>Dialogflow</a:t>
                      </a:r>
                      <a:r>
                        <a:rPr lang="en-US" dirty="0"/>
                        <a:t> used for development.</a:t>
                      </a:r>
                    </a:p>
                  </a:txBody>
                  <a:tcPr/>
                </a:tc>
                <a:tc>
                  <a:txBody>
                    <a:bodyPr/>
                    <a:lstStyle/>
                    <a:p>
                      <a:r>
                        <a:rPr lang="en-IN" dirty="0"/>
                        <a:t>-</a:t>
                      </a:r>
                    </a:p>
                  </a:txBody>
                  <a:tcPr/>
                </a:tc>
                <a:tc>
                  <a:txBody>
                    <a:bodyPr/>
                    <a:lstStyle/>
                    <a:p>
                      <a:r>
                        <a:rPr lang="en-US" dirty="0"/>
                        <a:t>Domain-specific capabilities still remain a challenge.</a:t>
                      </a:r>
                    </a:p>
                    <a:p>
                      <a:r>
                        <a:rPr lang="en-US" dirty="0"/>
                        <a:t>Many citizen queries remain unresolved.</a:t>
                      </a:r>
                    </a:p>
                    <a:p>
                      <a:endParaRPr lang="en-IN" dirty="0"/>
                    </a:p>
                  </a:txBody>
                  <a:tcPr/>
                </a:tc>
                <a:tc>
                  <a:txBody>
                    <a:bodyPr/>
                    <a:lstStyle/>
                    <a:p>
                      <a:r>
                        <a:rPr lang="en-US" dirty="0"/>
                        <a:t>Intelligent chatbots improve citizen-government interaction efficiency.</a:t>
                      </a:r>
                    </a:p>
                    <a:p>
                      <a:r>
                        <a:rPr lang="en-US" dirty="0"/>
                        <a:t>High accuracy (approx. 95%) in responding to queries.</a:t>
                      </a:r>
                    </a:p>
                    <a:p>
                      <a:endParaRPr lang="en-IN" dirty="0"/>
                    </a:p>
                  </a:txBody>
                  <a:tcPr/>
                </a:tc>
                <a:extLst>
                  <a:ext uri="{0D108BD9-81ED-4DB2-BD59-A6C34878D82A}">
                    <a16:rowId xmlns:a16="http://schemas.microsoft.com/office/drawing/2014/main" val="232637886"/>
                  </a:ext>
                </a:extLst>
              </a:tr>
              <a:tr h="1448201">
                <a:tc>
                  <a:txBody>
                    <a:bodyPr/>
                    <a:lstStyle/>
                    <a:p>
                      <a:r>
                        <a:rPr lang="en-IN" dirty="0"/>
                        <a:t>12.</a:t>
                      </a:r>
                    </a:p>
                  </a:txBody>
                  <a:tcPr/>
                </a:tc>
                <a:tc>
                  <a:txBody>
                    <a:bodyPr/>
                    <a:lstStyle/>
                    <a:p>
                      <a:r>
                        <a:rPr lang="es-ES" dirty="0"/>
                        <a:t>Contribución tecnológica al acceso a la justicia: un </a:t>
                      </a:r>
                      <a:r>
                        <a:rPr lang="es-ES" dirty="0" err="1"/>
                        <a:t>chatbot</a:t>
                      </a:r>
                      <a:r>
                        <a:rPr lang="es-ES" dirty="0"/>
                        <a:t> para el agenciamiento de necesidades jurídicas</a:t>
                      </a:r>
                      <a:endParaRPr lang="en-IN" dirty="0"/>
                    </a:p>
                  </a:txBody>
                  <a:tcPr/>
                </a:tc>
                <a:tc>
                  <a:txBody>
                    <a:bodyPr/>
                    <a:lstStyle/>
                    <a:p>
                      <a:r>
                        <a:rPr lang="en-US" dirty="0"/>
                        <a:t>Development of a legal chatbot using artificial intelligence.</a:t>
                      </a:r>
                    </a:p>
                    <a:p>
                      <a:r>
                        <a:rPr lang="en-US" dirty="0"/>
                        <a:t>Application of information and communication technologies for legal needs.</a:t>
                      </a:r>
                    </a:p>
                    <a:p>
                      <a:endParaRPr lang="en-IN" dirty="0"/>
                    </a:p>
                  </a:txBody>
                  <a:tcPr/>
                </a:tc>
                <a:tc>
                  <a:txBody>
                    <a:bodyPr/>
                    <a:lstStyle/>
                    <a:p>
                      <a:r>
                        <a:rPr lang="en-IN" dirty="0"/>
                        <a:t>-</a:t>
                      </a:r>
                    </a:p>
                  </a:txBody>
                  <a:tcPr/>
                </a:tc>
                <a:tc>
                  <a:txBody>
                    <a:bodyPr/>
                    <a:lstStyle/>
                    <a:p>
                      <a:r>
                        <a:rPr lang="en-US" dirty="0"/>
                        <a:t>Lack of knowledge and orientation for vulnerable individuals.</a:t>
                      </a:r>
                    </a:p>
                    <a:p>
                      <a:r>
                        <a:rPr lang="en-US" dirty="0"/>
                        <a:t>Multiple barriers to accessing legal needs in Colombia.</a:t>
                      </a:r>
                    </a:p>
                    <a:p>
                      <a:endParaRPr lang="en-IN" dirty="0"/>
                    </a:p>
                  </a:txBody>
                  <a:tcPr/>
                </a:tc>
                <a:tc>
                  <a:txBody>
                    <a:bodyPr/>
                    <a:lstStyle/>
                    <a:p>
                      <a:r>
                        <a:rPr lang="en-US" dirty="0"/>
                        <a:t>Closes knowledge and orientation gaps for vulnerable individuals.</a:t>
                      </a:r>
                    </a:p>
                    <a:p>
                      <a:r>
                        <a:rPr lang="en-US" dirty="0"/>
                        <a:t>Enhances access to justice through innovative technology.</a:t>
                      </a:r>
                    </a:p>
                    <a:p>
                      <a:endParaRPr lang="en-IN" dirty="0"/>
                    </a:p>
                  </a:txBody>
                  <a:tcPr/>
                </a:tc>
                <a:extLst>
                  <a:ext uri="{0D108BD9-81ED-4DB2-BD59-A6C34878D82A}">
                    <a16:rowId xmlns:a16="http://schemas.microsoft.com/office/drawing/2014/main" val="1718662236"/>
                  </a:ext>
                </a:extLst>
              </a:tr>
            </a:tbl>
          </a:graphicData>
        </a:graphic>
      </p:graphicFrame>
    </p:spTree>
    <p:extLst>
      <p:ext uri="{BB962C8B-B14F-4D97-AF65-F5344CB8AC3E}">
        <p14:creationId xmlns:p14="http://schemas.microsoft.com/office/powerpoint/2010/main" val="834580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0D94C169-6F8C-C0B8-189C-540E97BFBCD7}"/>
              </a:ext>
            </a:extLst>
          </p:cNvPr>
          <p:cNvGraphicFramePr>
            <a:graphicFrameLocks noGrp="1"/>
          </p:cNvGraphicFramePr>
          <p:nvPr>
            <p:extLst>
              <p:ext uri="{D42A27DB-BD31-4B8C-83A1-F6EECF244321}">
                <p14:modId xmlns:p14="http://schemas.microsoft.com/office/powerpoint/2010/main" val="3040159984"/>
              </p:ext>
            </p:extLst>
          </p:nvPr>
        </p:nvGraphicFramePr>
        <p:xfrm>
          <a:off x="181772" y="1073151"/>
          <a:ext cx="11828456" cy="5699760"/>
        </p:xfrm>
        <a:graphic>
          <a:graphicData uri="http://schemas.openxmlformats.org/drawingml/2006/table">
            <a:tbl>
              <a:tblPr firstRow="1" bandRow="1"/>
              <a:tblGrid>
                <a:gridCol w="529113">
                  <a:extLst>
                    <a:ext uri="{9D8B030D-6E8A-4147-A177-3AD203B41FA5}">
                      <a16:colId xmlns:a16="http://schemas.microsoft.com/office/drawing/2014/main" val="147938512"/>
                    </a:ext>
                  </a:extLst>
                </a:gridCol>
                <a:gridCol w="1583741">
                  <a:extLst>
                    <a:ext uri="{9D8B030D-6E8A-4147-A177-3AD203B41FA5}">
                      <a16:colId xmlns:a16="http://schemas.microsoft.com/office/drawing/2014/main" val="854774513"/>
                    </a:ext>
                  </a:extLst>
                </a:gridCol>
                <a:gridCol w="2553419">
                  <a:extLst>
                    <a:ext uri="{9D8B030D-6E8A-4147-A177-3AD203B41FA5}">
                      <a16:colId xmlns:a16="http://schemas.microsoft.com/office/drawing/2014/main" val="1365941747"/>
                    </a:ext>
                  </a:extLst>
                </a:gridCol>
                <a:gridCol w="2035834">
                  <a:extLst>
                    <a:ext uri="{9D8B030D-6E8A-4147-A177-3AD203B41FA5}">
                      <a16:colId xmlns:a16="http://schemas.microsoft.com/office/drawing/2014/main" val="4032138535"/>
                    </a:ext>
                  </a:extLst>
                </a:gridCol>
                <a:gridCol w="2984740">
                  <a:extLst>
                    <a:ext uri="{9D8B030D-6E8A-4147-A177-3AD203B41FA5}">
                      <a16:colId xmlns:a16="http://schemas.microsoft.com/office/drawing/2014/main" val="2926904539"/>
                    </a:ext>
                  </a:extLst>
                </a:gridCol>
                <a:gridCol w="2141609">
                  <a:extLst>
                    <a:ext uri="{9D8B030D-6E8A-4147-A177-3AD203B41FA5}">
                      <a16:colId xmlns:a16="http://schemas.microsoft.com/office/drawing/2014/main" val="3600512802"/>
                    </a:ext>
                  </a:extLst>
                </a:gridCol>
              </a:tblGrid>
              <a:tr h="506920">
                <a:tc>
                  <a:txBody>
                    <a:bodyPr/>
                    <a:lstStyle/>
                    <a:p>
                      <a:r>
                        <a:rPr lang="en-IN" dirty="0"/>
                        <a:t>SL.NO</a:t>
                      </a:r>
                    </a:p>
                  </a:txBody>
                  <a:tcPr/>
                </a:tc>
                <a:tc>
                  <a:txBody>
                    <a:bodyPr/>
                    <a:lstStyle/>
                    <a:p>
                      <a:r>
                        <a:rPr lang="en-IN" dirty="0"/>
                        <a:t>PAPERS</a:t>
                      </a:r>
                    </a:p>
                  </a:txBody>
                  <a:tcPr/>
                </a:tc>
                <a:tc>
                  <a:txBody>
                    <a:bodyPr/>
                    <a:lstStyle/>
                    <a:p>
                      <a:r>
                        <a:rPr lang="en-IN" dirty="0"/>
                        <a:t>METHODS USED</a:t>
                      </a:r>
                    </a:p>
                  </a:txBody>
                  <a:tcPr/>
                </a:tc>
                <a:tc>
                  <a:txBody>
                    <a:bodyPr/>
                    <a:lstStyle/>
                    <a:p>
                      <a:r>
                        <a:rPr lang="en-IN" dirty="0"/>
                        <a:t>RESEARCH GAP</a:t>
                      </a:r>
                    </a:p>
                  </a:txBody>
                  <a:tcPr/>
                </a:tc>
                <a:tc>
                  <a:txBody>
                    <a:bodyPr/>
                    <a:lstStyle/>
                    <a:p>
                      <a:r>
                        <a:rPr lang="en-IN" dirty="0"/>
                        <a:t>LIMITATIONS</a:t>
                      </a:r>
                    </a:p>
                  </a:txBody>
                  <a:tcPr/>
                </a:tc>
                <a:tc>
                  <a:txBody>
                    <a:bodyPr/>
                    <a:lstStyle/>
                    <a:p>
                      <a:r>
                        <a:rPr lang="en-IN" dirty="0"/>
                        <a:t>ADVANTAGES</a:t>
                      </a:r>
                    </a:p>
                  </a:txBody>
                  <a:tcPr/>
                </a:tc>
                <a:extLst>
                  <a:ext uri="{0D108BD9-81ED-4DB2-BD59-A6C34878D82A}">
                    <a16:rowId xmlns:a16="http://schemas.microsoft.com/office/drawing/2014/main" val="2314826159"/>
                  </a:ext>
                </a:extLst>
              </a:tr>
              <a:tr h="1759310">
                <a:tc>
                  <a:txBody>
                    <a:bodyPr/>
                    <a:lstStyle/>
                    <a:p>
                      <a:r>
                        <a:rPr lang="en-IN" dirty="0"/>
                        <a:t>13.</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Applying cognitive computing to legal services</a:t>
                      </a:r>
                    </a:p>
                  </a:txBody>
                  <a:tcPr/>
                </a:tc>
                <a:tc>
                  <a:txBody>
                    <a:bodyPr/>
                    <a:lstStyle/>
                    <a:p>
                      <a:r>
                        <a:rPr lang="en-US" dirty="0"/>
                        <a:t>Development of a cognitive AI chatbot for legal services.</a:t>
                      </a:r>
                    </a:p>
                    <a:p>
                      <a:r>
                        <a:rPr lang="en-US" dirty="0"/>
                        <a:t>Explanation of requirements and tasks involved in setting up a cognitive AI chatbot.</a:t>
                      </a:r>
                    </a:p>
                    <a:p>
                      <a:endParaRPr lang="en-IN" dirty="0"/>
                    </a:p>
                  </a:txBody>
                  <a:tcPr/>
                </a:tc>
                <a:tc>
                  <a:txBody>
                    <a:bodyPr/>
                    <a:lstStyle/>
                    <a:p>
                      <a:r>
                        <a:rPr lang="en-IN" dirty="0"/>
                        <a:t>-</a:t>
                      </a:r>
                    </a:p>
                  </a:txBody>
                  <a:tcPr/>
                </a:tc>
                <a:tc>
                  <a:txBody>
                    <a:bodyPr/>
                    <a:lstStyle/>
                    <a:p>
                      <a:r>
                        <a:rPr lang="en-US" dirty="0"/>
                        <a:t>User trust in Cognitive Computing needs further exploration.</a:t>
                      </a:r>
                    </a:p>
                    <a:p>
                      <a:r>
                        <a:rPr lang="en-US" dirty="0"/>
                        <a:t>Future work with real clients is necessary.</a:t>
                      </a:r>
                    </a:p>
                    <a:p>
                      <a:r>
                        <a:rPr lang="en-US" dirty="0"/>
                        <a:t>Challenges in getting Watson to populate a form.</a:t>
                      </a:r>
                    </a:p>
                    <a:p>
                      <a:r>
                        <a:rPr lang="en-US" dirty="0"/>
                        <a:t>Data in the Discovery service cannot be deleted once entered.</a:t>
                      </a:r>
                    </a:p>
                  </a:txBody>
                  <a:tcPr/>
                </a:tc>
                <a:tc>
                  <a:txBody>
                    <a:bodyPr/>
                    <a:lstStyle/>
                    <a:p>
                      <a:r>
                        <a:rPr lang="en-US" dirty="0"/>
                        <a:t>Provides 24/7 essential legal advice access.</a:t>
                      </a:r>
                    </a:p>
                    <a:p>
                      <a:r>
                        <a:rPr lang="en-US" dirty="0"/>
                        <a:t>Saves time by guiding users through tasks.</a:t>
                      </a:r>
                    </a:p>
                  </a:txBody>
                  <a:tcPr/>
                </a:tc>
                <a:extLst>
                  <a:ext uri="{0D108BD9-81ED-4DB2-BD59-A6C34878D82A}">
                    <a16:rowId xmlns:a16="http://schemas.microsoft.com/office/drawing/2014/main" val="4131676368"/>
                  </a:ext>
                </a:extLst>
              </a:tr>
              <a:tr h="1274430">
                <a:tc>
                  <a:txBody>
                    <a:bodyPr/>
                    <a:lstStyle/>
                    <a:p>
                      <a:r>
                        <a:rPr lang="en-IN" dirty="0"/>
                        <a:t>14.</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Chat Kanoon: A Novel Approach to Legal Assistance in India</a:t>
                      </a:r>
                    </a:p>
                  </a:txBody>
                  <a:tcPr/>
                </a:tc>
                <a:tc>
                  <a:txBody>
                    <a:bodyPr/>
                    <a:lstStyle/>
                    <a:p>
                      <a:r>
                        <a:rPr lang="en-US" dirty="0">
                          <a:effectLst/>
                        </a:rPr>
                        <a:t>Instructional techniques with language models.</a:t>
                      </a:r>
                      <a:endParaRPr lang="en-US" dirty="0"/>
                    </a:p>
                    <a:p>
                      <a:r>
                        <a:rPr lang="en-US" dirty="0">
                          <a:effectLst/>
                        </a:rPr>
                        <a:t>Dataset utilization for precise legal information.</a:t>
                      </a:r>
                      <a:endParaRPr lang="en-US" dirty="0"/>
                    </a:p>
                  </a:txBody>
                  <a:tcPr/>
                </a:tc>
                <a:tc>
                  <a:txBody>
                    <a:bodyPr/>
                    <a:lstStyle/>
                    <a:p>
                      <a:r>
                        <a:rPr lang="en-US" dirty="0"/>
                        <a:t>Current limitations and future potential discussed.</a:t>
                      </a:r>
                    </a:p>
                    <a:p>
                      <a:r>
                        <a:rPr lang="en-US" dirty="0"/>
                        <a:t>Broader impact of AI-driven legal assistance tools in developing countries.</a:t>
                      </a:r>
                    </a:p>
                  </a:txBody>
                  <a:tcPr/>
                </a:tc>
                <a:tc>
                  <a:txBody>
                    <a:bodyPr/>
                    <a:lstStyle/>
                    <a:p>
                      <a:r>
                        <a:rPr lang="en-US" dirty="0"/>
                        <a:t>Current limitations and future potential discussed.</a:t>
                      </a:r>
                      <a:endParaRPr lang="en-IN" dirty="0"/>
                    </a:p>
                  </a:txBody>
                  <a:tcPr/>
                </a:tc>
                <a:tc>
                  <a:txBody>
                    <a:bodyPr/>
                    <a:lstStyle/>
                    <a:p>
                      <a:r>
                        <a:rPr lang="en-US" dirty="0"/>
                        <a:t>Provides accessible and affordable legal information.</a:t>
                      </a:r>
                    </a:p>
                    <a:p>
                      <a:r>
                        <a:rPr lang="en-US" dirty="0"/>
                        <a:t>Enhances efficiency of legal procedures in India.</a:t>
                      </a:r>
                    </a:p>
                  </a:txBody>
                  <a:tcPr/>
                </a:tc>
                <a:extLst>
                  <a:ext uri="{0D108BD9-81ED-4DB2-BD59-A6C34878D82A}">
                    <a16:rowId xmlns:a16="http://schemas.microsoft.com/office/drawing/2014/main" val="232637886"/>
                  </a:ext>
                </a:extLst>
              </a:tr>
              <a:tr h="1759310">
                <a:tc>
                  <a:txBody>
                    <a:bodyPr/>
                    <a:lstStyle/>
                    <a:p>
                      <a:r>
                        <a:rPr lang="en-IN" dirty="0"/>
                        <a:t>15.</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LAWBO: a smart lawyer chatbot</a:t>
                      </a:r>
                    </a:p>
                  </a:txBody>
                  <a:tcPr/>
                </a:tc>
                <a:tc>
                  <a:txBody>
                    <a:bodyPr/>
                    <a:lstStyle/>
                    <a:p>
                      <a:r>
                        <a:rPr lang="en-US" dirty="0"/>
                        <a:t>Heuristics, DMN, </a:t>
                      </a:r>
                      <a:r>
                        <a:rPr lang="en-US" dirty="0" err="1"/>
                        <a:t>GloVe</a:t>
                      </a:r>
                      <a:r>
                        <a:rPr lang="en-US" dirty="0"/>
                        <a:t> for NLP.</a:t>
                      </a:r>
                    </a:p>
                    <a:p>
                      <a:r>
                        <a:rPr lang="en-US" dirty="0"/>
                        <a:t>Luis for user intents and actions.</a:t>
                      </a:r>
                    </a:p>
                    <a:p>
                      <a:endParaRPr lang="en-IN" dirty="0"/>
                    </a:p>
                  </a:txBody>
                  <a:tcPr/>
                </a:tc>
                <a:tc>
                  <a:txBody>
                    <a:bodyPr/>
                    <a:lstStyle/>
                    <a:p>
                      <a:r>
                        <a:rPr lang="en-IN" dirty="0"/>
                        <a:t>-</a:t>
                      </a:r>
                    </a:p>
                  </a:txBody>
                  <a:tcPr/>
                </a:tc>
                <a:tc>
                  <a:txBody>
                    <a:bodyPr/>
                    <a:lstStyle/>
                    <a:p>
                      <a:r>
                        <a:rPr lang="en-US" dirty="0"/>
                        <a:t>Limited number of AI systems in legal research.</a:t>
                      </a:r>
                    </a:p>
                    <a:p>
                      <a:r>
                        <a:rPr lang="en-US" dirty="0"/>
                        <a:t>Limited AI-driven systems in legal research domain.</a:t>
                      </a:r>
                    </a:p>
                    <a:p>
                      <a:r>
                        <a:rPr lang="en-US" dirty="0"/>
                        <a:t>Traditional NLP techniques insufficient for legal fact extraction.</a:t>
                      </a:r>
                    </a:p>
                  </a:txBody>
                  <a:tcPr/>
                </a:tc>
                <a:tc>
                  <a:txBody>
                    <a:bodyPr/>
                    <a:lstStyle/>
                    <a:p>
                      <a:r>
                        <a:rPr lang="en-US" dirty="0"/>
                        <a:t>Provides relevant legal information quickly to lawyers.</a:t>
                      </a:r>
                    </a:p>
                    <a:p>
                      <a:r>
                        <a:rPr lang="en-US" dirty="0"/>
                        <a:t>Enhances understanding of complex legal cases and procedures.</a:t>
                      </a:r>
                    </a:p>
                    <a:p>
                      <a:endParaRPr lang="en-IN" dirty="0"/>
                    </a:p>
                  </a:txBody>
                  <a:tcPr/>
                </a:tc>
                <a:extLst>
                  <a:ext uri="{0D108BD9-81ED-4DB2-BD59-A6C34878D82A}">
                    <a16:rowId xmlns:a16="http://schemas.microsoft.com/office/drawing/2014/main" val="1718662236"/>
                  </a:ext>
                </a:extLst>
              </a:tr>
            </a:tbl>
          </a:graphicData>
        </a:graphic>
      </p:graphicFrame>
    </p:spTree>
    <p:extLst>
      <p:ext uri="{BB962C8B-B14F-4D97-AF65-F5344CB8AC3E}">
        <p14:creationId xmlns:p14="http://schemas.microsoft.com/office/powerpoint/2010/main" val="2669695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F1BFCE6-5746-1F07-A8D5-8994CD16FD8A}"/>
              </a:ext>
            </a:extLst>
          </p:cNvPr>
          <p:cNvGraphicFramePr>
            <a:graphicFrameLocks noGrp="1"/>
          </p:cNvGraphicFramePr>
          <p:nvPr>
            <p:extLst>
              <p:ext uri="{D42A27DB-BD31-4B8C-83A1-F6EECF244321}">
                <p14:modId xmlns:p14="http://schemas.microsoft.com/office/powerpoint/2010/main" val="531971562"/>
              </p:ext>
            </p:extLst>
          </p:nvPr>
        </p:nvGraphicFramePr>
        <p:xfrm>
          <a:off x="230842" y="1005417"/>
          <a:ext cx="11808758" cy="5272497"/>
        </p:xfrm>
        <a:graphic>
          <a:graphicData uri="http://schemas.openxmlformats.org/drawingml/2006/table">
            <a:tbl>
              <a:tblPr firstRow="1" bandRow="1"/>
              <a:tblGrid>
                <a:gridCol w="471383">
                  <a:extLst>
                    <a:ext uri="{9D8B030D-6E8A-4147-A177-3AD203B41FA5}">
                      <a16:colId xmlns:a16="http://schemas.microsoft.com/office/drawing/2014/main" val="147938512"/>
                    </a:ext>
                  </a:extLst>
                </a:gridCol>
                <a:gridCol w="1499108">
                  <a:extLst>
                    <a:ext uri="{9D8B030D-6E8A-4147-A177-3AD203B41FA5}">
                      <a16:colId xmlns:a16="http://schemas.microsoft.com/office/drawing/2014/main" val="854774513"/>
                    </a:ext>
                  </a:extLst>
                </a:gridCol>
                <a:gridCol w="2946400">
                  <a:extLst>
                    <a:ext uri="{9D8B030D-6E8A-4147-A177-3AD203B41FA5}">
                      <a16:colId xmlns:a16="http://schemas.microsoft.com/office/drawing/2014/main" val="1365941747"/>
                    </a:ext>
                  </a:extLst>
                </a:gridCol>
                <a:gridCol w="1337734">
                  <a:extLst>
                    <a:ext uri="{9D8B030D-6E8A-4147-A177-3AD203B41FA5}">
                      <a16:colId xmlns:a16="http://schemas.microsoft.com/office/drawing/2014/main" val="4032138535"/>
                    </a:ext>
                  </a:extLst>
                </a:gridCol>
                <a:gridCol w="3031066">
                  <a:extLst>
                    <a:ext uri="{9D8B030D-6E8A-4147-A177-3AD203B41FA5}">
                      <a16:colId xmlns:a16="http://schemas.microsoft.com/office/drawing/2014/main" val="2926904539"/>
                    </a:ext>
                  </a:extLst>
                </a:gridCol>
                <a:gridCol w="2523067">
                  <a:extLst>
                    <a:ext uri="{9D8B030D-6E8A-4147-A177-3AD203B41FA5}">
                      <a16:colId xmlns:a16="http://schemas.microsoft.com/office/drawing/2014/main" val="3600512802"/>
                    </a:ext>
                  </a:extLst>
                </a:gridCol>
              </a:tblGrid>
              <a:tr h="525563">
                <a:tc>
                  <a:txBody>
                    <a:bodyPr/>
                    <a:lstStyle/>
                    <a:p>
                      <a:r>
                        <a:rPr lang="en-IN" dirty="0"/>
                        <a:t>SL.NO</a:t>
                      </a:r>
                    </a:p>
                  </a:txBody>
                  <a:tcPr/>
                </a:tc>
                <a:tc>
                  <a:txBody>
                    <a:bodyPr/>
                    <a:lstStyle/>
                    <a:p>
                      <a:r>
                        <a:rPr lang="en-IN" dirty="0"/>
                        <a:t>PAPERS</a:t>
                      </a:r>
                    </a:p>
                  </a:txBody>
                  <a:tcPr/>
                </a:tc>
                <a:tc>
                  <a:txBody>
                    <a:bodyPr/>
                    <a:lstStyle/>
                    <a:p>
                      <a:r>
                        <a:rPr lang="en-IN" dirty="0"/>
                        <a:t>METHODS USED</a:t>
                      </a:r>
                    </a:p>
                  </a:txBody>
                  <a:tcPr/>
                </a:tc>
                <a:tc>
                  <a:txBody>
                    <a:bodyPr/>
                    <a:lstStyle/>
                    <a:p>
                      <a:r>
                        <a:rPr lang="en-IN" dirty="0"/>
                        <a:t>RESEARCH GAP</a:t>
                      </a:r>
                    </a:p>
                  </a:txBody>
                  <a:tcPr/>
                </a:tc>
                <a:tc>
                  <a:txBody>
                    <a:bodyPr/>
                    <a:lstStyle/>
                    <a:p>
                      <a:r>
                        <a:rPr lang="en-IN" dirty="0"/>
                        <a:t>LIMITATIONS</a:t>
                      </a:r>
                    </a:p>
                  </a:txBody>
                  <a:tcPr/>
                </a:tc>
                <a:tc>
                  <a:txBody>
                    <a:bodyPr/>
                    <a:lstStyle/>
                    <a:p>
                      <a:r>
                        <a:rPr lang="en-IN" dirty="0"/>
                        <a:t>ADVANTAGES</a:t>
                      </a:r>
                    </a:p>
                  </a:txBody>
                  <a:tcPr/>
                </a:tc>
                <a:extLst>
                  <a:ext uri="{0D108BD9-81ED-4DB2-BD59-A6C34878D82A}">
                    <a16:rowId xmlns:a16="http://schemas.microsoft.com/office/drawing/2014/main" val="2314826159"/>
                  </a:ext>
                </a:extLst>
              </a:tr>
              <a:tr h="1720220">
                <a:tc>
                  <a:txBody>
                    <a:bodyPr/>
                    <a:lstStyle/>
                    <a:p>
                      <a:r>
                        <a:rPr lang="en-IN" dirty="0"/>
                        <a:t>16.</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Ai chatbot using dialog flow</a:t>
                      </a:r>
                    </a:p>
                  </a:txBody>
                  <a:tcPr/>
                </a:tc>
                <a:tc>
                  <a:txBody>
                    <a:bodyPr/>
                    <a:lstStyle/>
                    <a:p>
                      <a:r>
                        <a:rPr lang="en-US" dirty="0"/>
                        <a:t>AICMS, an AI-based </a:t>
                      </a:r>
                      <a:r>
                        <a:rPr lang="en-US" dirty="0" err="1"/>
                        <a:t>CollegeBot</a:t>
                      </a:r>
                      <a:r>
                        <a:rPr lang="en-US" dirty="0"/>
                        <a:t> management platform.</a:t>
                      </a:r>
                    </a:p>
                    <a:p>
                      <a:r>
                        <a:rPr lang="en-US" dirty="0" err="1"/>
                        <a:t>Dialogflow</a:t>
                      </a:r>
                      <a:r>
                        <a:rPr lang="en-US" dirty="0"/>
                        <a:t>, supported by the Google API.</a:t>
                      </a:r>
                    </a:p>
                  </a:txBody>
                  <a:tcPr/>
                </a:tc>
                <a:tc>
                  <a:txBody>
                    <a:bodyPr/>
                    <a:lstStyle/>
                    <a:p>
                      <a:r>
                        <a:rPr lang="en-IN" dirty="0"/>
                        <a:t>-/</a:t>
                      </a:r>
                    </a:p>
                  </a:txBody>
                  <a:tcPr/>
                </a:tc>
                <a:tc>
                  <a:txBody>
                    <a:bodyPr/>
                    <a:lstStyle/>
                    <a:p>
                      <a:r>
                        <a:rPr lang="en-US" dirty="0"/>
                        <a:t>Limited exploration of chatbot personality development methods.</a:t>
                      </a:r>
                    </a:p>
                    <a:p>
                      <a:r>
                        <a:rPr lang="en-US" dirty="0"/>
                        <a:t>Need for improved information retrieval algorithms in chatbots.</a:t>
                      </a:r>
                    </a:p>
                    <a:p>
                      <a:r>
                        <a:rPr lang="en-US" dirty="0"/>
                        <a:t>Rule-based chatbots have limitations in generating answers and developing a personality.</a:t>
                      </a:r>
                    </a:p>
                  </a:txBody>
                  <a:tcPr/>
                </a:tc>
                <a:tc>
                  <a:txBody>
                    <a:bodyPr/>
                    <a:lstStyle/>
                    <a:p>
                      <a:r>
                        <a:rPr lang="en-US" dirty="0"/>
                        <a:t>Handles unlimited users 24/7 without fatigue.</a:t>
                      </a:r>
                    </a:p>
                    <a:p>
                      <a:r>
                        <a:rPr lang="en-US" dirty="0"/>
                        <a:t>Provides quick and accurate responses to inquiries.</a:t>
                      </a:r>
                    </a:p>
                  </a:txBody>
                  <a:tcPr/>
                </a:tc>
                <a:extLst>
                  <a:ext uri="{0D108BD9-81ED-4DB2-BD59-A6C34878D82A}">
                    <a16:rowId xmlns:a16="http://schemas.microsoft.com/office/drawing/2014/main" val="4131676368"/>
                  </a:ext>
                </a:extLst>
              </a:tr>
              <a:tr h="1655114">
                <a:tc>
                  <a:txBody>
                    <a:bodyPr/>
                    <a:lstStyle/>
                    <a:p>
                      <a:r>
                        <a:rPr lang="en-IN" dirty="0"/>
                        <a:t>17.</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AI-Based advanced Talk-chatbot for Implementation</a:t>
                      </a:r>
                    </a:p>
                  </a:txBody>
                  <a:tcPr/>
                </a:tc>
                <a:tc>
                  <a:txBody>
                    <a:bodyPr/>
                    <a:lstStyle/>
                    <a:p>
                      <a:r>
                        <a:rPr lang="en-US" dirty="0"/>
                        <a:t>AI &amp; NLP technologies used for multilingual </a:t>
                      </a:r>
                      <a:r>
                        <a:rPr lang="en-US" dirty="0" err="1"/>
                        <a:t>talkbot</a:t>
                      </a:r>
                      <a:r>
                        <a:rPr lang="en-US" dirty="0"/>
                        <a:t> development.</a:t>
                      </a:r>
                    </a:p>
                    <a:p>
                      <a:r>
                        <a:rPr lang="en-US" dirty="0"/>
                        <a:t>o Intent-built domain-specific compilation utilized as knowledge source.</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Service satisfaction is currently lacking for students.</a:t>
                      </a:r>
                    </a:p>
                  </a:txBody>
                  <a:tcPr/>
                </a:tc>
                <a:tc>
                  <a:txBody>
                    <a:bodyPr/>
                    <a:lstStyle/>
                    <a:p>
                      <a:r>
                        <a:rPr lang="en-IN" dirty="0"/>
                        <a:t>-</a:t>
                      </a:r>
                    </a:p>
                  </a:txBody>
                  <a:tcPr/>
                </a:tc>
                <a:tc>
                  <a:txBody>
                    <a:bodyPr/>
                    <a:lstStyle/>
                    <a:p>
                      <a:r>
                        <a:rPr lang="en-US" dirty="0"/>
                        <a:t>Multilingual support in English and Arabic.</a:t>
                      </a:r>
                    </a:p>
                    <a:p>
                      <a:r>
                        <a:rPr lang="en-US" dirty="0"/>
                        <a:t>80% efficiency in English responses.</a:t>
                      </a:r>
                    </a:p>
                  </a:txBody>
                  <a:tcPr/>
                </a:tc>
                <a:extLst>
                  <a:ext uri="{0D108BD9-81ED-4DB2-BD59-A6C34878D82A}">
                    <a16:rowId xmlns:a16="http://schemas.microsoft.com/office/drawing/2014/main" val="232637886"/>
                  </a:ext>
                </a:extLst>
              </a:tr>
              <a:tr h="1292216">
                <a:tc>
                  <a:txBody>
                    <a:bodyPr/>
                    <a:lstStyle/>
                    <a:p>
                      <a:r>
                        <a:rPr lang="en-IN" dirty="0"/>
                        <a:t>18.</a:t>
                      </a:r>
                    </a:p>
                  </a:txBody>
                  <a:tcPr/>
                </a:tc>
                <a:tc>
                  <a:txBody>
                    <a:bodyPr/>
                    <a:lstStyle/>
                    <a:p>
                      <a:r>
                        <a:rPr lang="en-US" dirty="0"/>
                        <a:t>Interactive Legal Assistance System using Large Language Models</a:t>
                      </a:r>
                      <a:endParaRPr lang="en-IN" dirty="0"/>
                    </a:p>
                  </a:txBody>
                  <a:tcPr/>
                </a:tc>
                <a:tc>
                  <a:txBody>
                    <a:bodyPr/>
                    <a:lstStyle/>
                    <a:p>
                      <a:r>
                        <a:rPr lang="en-US" dirty="0"/>
                        <a:t>Retrieval Augmented Generation (RAG) chatbot development.</a:t>
                      </a:r>
                    </a:p>
                    <a:p>
                      <a:r>
                        <a:rPr lang="en-US" dirty="0"/>
                        <a:t>Utilization of Large Language Models (LLMs) like GPTs and Llama3.</a:t>
                      </a:r>
                    </a:p>
                    <a:p>
                      <a:endParaRPr lang="en-IN" dirty="0"/>
                    </a:p>
                  </a:txBody>
                  <a:tcPr/>
                </a:tc>
                <a:tc>
                  <a:txBody>
                    <a:bodyPr/>
                    <a:lstStyle/>
                    <a:p>
                      <a:r>
                        <a:rPr lang="en-IN" dirty="0"/>
                        <a:t>-</a:t>
                      </a:r>
                    </a:p>
                  </a:txBody>
                  <a:tcPr/>
                </a:tc>
                <a:tc>
                  <a:txBody>
                    <a:bodyPr/>
                    <a:lstStyle/>
                    <a:p>
                      <a:r>
                        <a:rPr lang="en-IN" dirty="0"/>
                        <a:t>-</a:t>
                      </a:r>
                    </a:p>
                  </a:txBody>
                  <a:tcPr/>
                </a:tc>
                <a:tc>
                  <a:txBody>
                    <a:bodyPr/>
                    <a:lstStyle/>
                    <a:p>
                      <a:r>
                        <a:rPr lang="en-US" dirty="0"/>
                        <a:t>Assists users in understanding complex legal documents.</a:t>
                      </a:r>
                    </a:p>
                    <a:p>
                      <a:r>
                        <a:rPr lang="en-US" dirty="0"/>
                        <a:t>o Supports queries in Tamil and English for accessibility.</a:t>
                      </a:r>
                    </a:p>
                  </a:txBody>
                  <a:tcPr/>
                </a:tc>
                <a:extLst>
                  <a:ext uri="{0D108BD9-81ED-4DB2-BD59-A6C34878D82A}">
                    <a16:rowId xmlns:a16="http://schemas.microsoft.com/office/drawing/2014/main" val="1718662236"/>
                  </a:ext>
                </a:extLst>
              </a:tr>
            </a:tbl>
          </a:graphicData>
        </a:graphic>
      </p:graphicFrame>
    </p:spTree>
    <p:extLst>
      <p:ext uri="{BB962C8B-B14F-4D97-AF65-F5344CB8AC3E}">
        <p14:creationId xmlns:p14="http://schemas.microsoft.com/office/powerpoint/2010/main" val="2098830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1E7F63C9-ED3A-E4ED-29A1-C952569F99DA}"/>
              </a:ext>
            </a:extLst>
          </p:cNvPr>
          <p:cNvGraphicFramePr>
            <a:graphicFrameLocks noGrp="1"/>
          </p:cNvGraphicFramePr>
          <p:nvPr>
            <p:extLst>
              <p:ext uri="{D42A27DB-BD31-4B8C-83A1-F6EECF244321}">
                <p14:modId xmlns:p14="http://schemas.microsoft.com/office/powerpoint/2010/main" val="2849936054"/>
              </p:ext>
            </p:extLst>
          </p:nvPr>
        </p:nvGraphicFramePr>
        <p:xfrm>
          <a:off x="196767" y="1073150"/>
          <a:ext cx="11730315" cy="5510212"/>
        </p:xfrm>
        <a:graphic>
          <a:graphicData uri="http://schemas.openxmlformats.org/drawingml/2006/table">
            <a:tbl>
              <a:tblPr firstRow="1" bandRow="1"/>
              <a:tblGrid>
                <a:gridCol w="468252">
                  <a:extLst>
                    <a:ext uri="{9D8B030D-6E8A-4147-A177-3AD203B41FA5}">
                      <a16:colId xmlns:a16="http://schemas.microsoft.com/office/drawing/2014/main" val="147938512"/>
                    </a:ext>
                  </a:extLst>
                </a:gridCol>
                <a:gridCol w="1935677">
                  <a:extLst>
                    <a:ext uri="{9D8B030D-6E8A-4147-A177-3AD203B41FA5}">
                      <a16:colId xmlns:a16="http://schemas.microsoft.com/office/drawing/2014/main" val="854774513"/>
                    </a:ext>
                  </a:extLst>
                </a:gridCol>
                <a:gridCol w="2766951">
                  <a:extLst>
                    <a:ext uri="{9D8B030D-6E8A-4147-A177-3AD203B41FA5}">
                      <a16:colId xmlns:a16="http://schemas.microsoft.com/office/drawing/2014/main" val="1365941747"/>
                    </a:ext>
                  </a:extLst>
                </a:gridCol>
                <a:gridCol w="2066086">
                  <a:extLst>
                    <a:ext uri="{9D8B030D-6E8A-4147-A177-3AD203B41FA5}">
                      <a16:colId xmlns:a16="http://schemas.microsoft.com/office/drawing/2014/main" val="4032138535"/>
                    </a:ext>
                  </a:extLst>
                </a:gridCol>
                <a:gridCol w="2929467">
                  <a:extLst>
                    <a:ext uri="{9D8B030D-6E8A-4147-A177-3AD203B41FA5}">
                      <a16:colId xmlns:a16="http://schemas.microsoft.com/office/drawing/2014/main" val="2926904539"/>
                    </a:ext>
                  </a:extLst>
                </a:gridCol>
                <a:gridCol w="1563882">
                  <a:extLst>
                    <a:ext uri="{9D8B030D-6E8A-4147-A177-3AD203B41FA5}">
                      <a16:colId xmlns:a16="http://schemas.microsoft.com/office/drawing/2014/main" val="3600512802"/>
                    </a:ext>
                  </a:extLst>
                </a:gridCol>
              </a:tblGrid>
              <a:tr h="571037">
                <a:tc>
                  <a:txBody>
                    <a:bodyPr/>
                    <a:lstStyle/>
                    <a:p>
                      <a:r>
                        <a:rPr lang="en-IN" dirty="0"/>
                        <a:t>SL.NO</a:t>
                      </a:r>
                    </a:p>
                  </a:txBody>
                  <a:tcPr/>
                </a:tc>
                <a:tc>
                  <a:txBody>
                    <a:bodyPr/>
                    <a:lstStyle/>
                    <a:p>
                      <a:r>
                        <a:rPr lang="en-IN" dirty="0"/>
                        <a:t>PAPERS</a:t>
                      </a:r>
                    </a:p>
                  </a:txBody>
                  <a:tcPr/>
                </a:tc>
                <a:tc>
                  <a:txBody>
                    <a:bodyPr/>
                    <a:lstStyle/>
                    <a:p>
                      <a:r>
                        <a:rPr lang="en-IN" dirty="0"/>
                        <a:t>METHODS USED</a:t>
                      </a:r>
                    </a:p>
                  </a:txBody>
                  <a:tcPr/>
                </a:tc>
                <a:tc>
                  <a:txBody>
                    <a:bodyPr/>
                    <a:lstStyle/>
                    <a:p>
                      <a:r>
                        <a:rPr lang="en-IN" dirty="0"/>
                        <a:t>RESEARCH GAP</a:t>
                      </a:r>
                    </a:p>
                  </a:txBody>
                  <a:tcPr/>
                </a:tc>
                <a:tc>
                  <a:txBody>
                    <a:bodyPr/>
                    <a:lstStyle/>
                    <a:p>
                      <a:r>
                        <a:rPr lang="en-IN" dirty="0"/>
                        <a:t>LIMITATIONS</a:t>
                      </a:r>
                    </a:p>
                  </a:txBody>
                  <a:tcPr/>
                </a:tc>
                <a:tc>
                  <a:txBody>
                    <a:bodyPr/>
                    <a:lstStyle/>
                    <a:p>
                      <a:r>
                        <a:rPr lang="en-IN" dirty="0"/>
                        <a:t>ADVANTAGES</a:t>
                      </a:r>
                    </a:p>
                  </a:txBody>
                  <a:tcPr/>
                </a:tc>
                <a:extLst>
                  <a:ext uri="{0D108BD9-81ED-4DB2-BD59-A6C34878D82A}">
                    <a16:rowId xmlns:a16="http://schemas.microsoft.com/office/drawing/2014/main" val="2314826159"/>
                  </a:ext>
                </a:extLst>
              </a:tr>
              <a:tr h="1767576">
                <a:tc>
                  <a:txBody>
                    <a:bodyPr/>
                    <a:lstStyle/>
                    <a:p>
                      <a:r>
                        <a:rPr lang="en-IN" dirty="0"/>
                        <a:t>19.</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LAWBOT: A Smart User Indian Legal Chatbot using Machine Learning Framework</a:t>
                      </a:r>
                    </a:p>
                  </a:txBody>
                  <a:tcPr/>
                </a:tc>
                <a:tc>
                  <a:txBody>
                    <a:bodyPr/>
                    <a:lstStyle/>
                    <a:p>
                      <a:r>
                        <a:rPr lang="en-US" dirty="0"/>
                        <a:t>o Machine Learning framework.</a:t>
                      </a:r>
                    </a:p>
                    <a:p>
                      <a:r>
                        <a:rPr lang="en-US" dirty="0"/>
                        <a:t>o Natural language processing for legal information retrieval.</a:t>
                      </a:r>
                    </a:p>
                    <a:p>
                      <a:endParaRPr lang="en-IN" dirty="0"/>
                    </a:p>
                  </a:txBody>
                  <a:tcPr/>
                </a:tc>
                <a:tc>
                  <a:txBody>
                    <a:bodyPr/>
                    <a:lstStyle/>
                    <a:p>
                      <a:r>
                        <a:rPr lang="en-US" dirty="0"/>
                        <a:t>o Implementation details of the Machine Learning framework.</a:t>
                      </a:r>
                    </a:p>
                    <a:p>
                      <a:r>
                        <a:rPr lang="en-US" dirty="0"/>
                        <a:t>o Evaluation of user satisfaction and chatbot effectiveness.</a:t>
                      </a:r>
                    </a:p>
                    <a:p>
                      <a:endParaRPr lang="en-IN" dirty="0"/>
                    </a:p>
                  </a:txBody>
                  <a:tcPr/>
                </a:tc>
                <a:tc>
                  <a:txBody>
                    <a:bodyPr/>
                    <a:lstStyle/>
                    <a:p>
                      <a:r>
                        <a:rPr lang="en-US" dirty="0"/>
                        <a:t>-</a:t>
                      </a:r>
                    </a:p>
                  </a:txBody>
                  <a:tcPr/>
                </a:tc>
                <a:tc>
                  <a:txBody>
                    <a:bodyPr/>
                    <a:lstStyle/>
                    <a:p>
                      <a:r>
                        <a:rPr lang="en-IN" dirty="0"/>
                        <a:t>-</a:t>
                      </a:r>
                    </a:p>
                  </a:txBody>
                  <a:tcPr/>
                </a:tc>
                <a:extLst>
                  <a:ext uri="{0D108BD9-81ED-4DB2-BD59-A6C34878D82A}">
                    <a16:rowId xmlns:a16="http://schemas.microsoft.com/office/drawing/2014/main" val="4131676368"/>
                  </a:ext>
                </a:extLst>
              </a:tr>
              <a:tr h="1767576">
                <a:tc>
                  <a:txBody>
                    <a:bodyPr/>
                    <a:lstStyle/>
                    <a:p>
                      <a:r>
                        <a:rPr lang="en-IN" dirty="0"/>
                        <a:t>20.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 Legal Assistant for Accountable Decision-Making</a:t>
                      </a:r>
                    </a:p>
                  </a:txBody>
                  <a:tcPr/>
                </a:tc>
                <a:tc>
                  <a:txBody>
                    <a:bodyPr/>
                    <a:lstStyle/>
                    <a:p>
                      <a:r>
                        <a:rPr lang="en-US" dirty="0"/>
                        <a:t>o Formal logic-driven approaches for legal reasoning.</a:t>
                      </a:r>
                    </a:p>
                    <a:p>
                      <a:r>
                        <a:rPr lang="en-US" dirty="0"/>
                        <a:t>o Use of language models for understanding legal problems.</a:t>
                      </a:r>
                    </a:p>
                  </a:txBody>
                  <a:tcPr/>
                </a:tc>
                <a:tc>
                  <a:txBody>
                    <a:bodyPr/>
                    <a:lstStyle/>
                    <a:p>
                      <a:r>
                        <a:rPr lang="en-US" dirty="0"/>
                        <a:t>Lack of exploration on user interaction with chatbot.</a:t>
                      </a:r>
                    </a:p>
                    <a:p>
                      <a:r>
                        <a:rPr lang="en-US" dirty="0"/>
                        <a:t>o Need for improved legal interpretation methods.</a:t>
                      </a:r>
                    </a:p>
                  </a:txBody>
                  <a:tcPr/>
                </a:tc>
                <a:tc>
                  <a:txBody>
                    <a:bodyPr/>
                    <a:lstStyle/>
                    <a:p>
                      <a:r>
                        <a:rPr lang="en-IN" dirty="0"/>
                        <a:t>Generative AI may produce unreliable information (hallucinations).</a:t>
                      </a:r>
                    </a:p>
                    <a:p>
                      <a:r>
                        <a:rPr lang="en-IN" dirty="0"/>
                        <a:t>Legal provisions' complexity requires professional interpretation for clarity.</a:t>
                      </a:r>
                    </a:p>
                  </a:txBody>
                  <a:tcPr/>
                </a:tc>
                <a:tc>
                  <a:txBody>
                    <a:bodyPr/>
                    <a:lstStyle/>
                    <a:p>
                      <a:r>
                        <a:rPr lang="en-IN" dirty="0"/>
                        <a:t>-</a:t>
                      </a:r>
                    </a:p>
                  </a:txBody>
                  <a:tcPr/>
                </a:tc>
                <a:extLst>
                  <a:ext uri="{0D108BD9-81ED-4DB2-BD59-A6C34878D82A}">
                    <a16:rowId xmlns:a16="http://schemas.microsoft.com/office/drawing/2014/main" val="232637886"/>
                  </a:ext>
                </a:extLst>
              </a:tr>
              <a:tr h="1404023">
                <a:tc>
                  <a:txBody>
                    <a:bodyPr/>
                    <a:lstStyle/>
                    <a:p>
                      <a:r>
                        <a:rPr lang="en-IN" dirty="0"/>
                        <a:t>21.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AI BASED CHATBOT TO ANSWER FAQs</a:t>
                      </a:r>
                    </a:p>
                  </a:txBody>
                  <a:tcPr/>
                </a:tc>
                <a:tc>
                  <a:txBody>
                    <a:bodyPr/>
                    <a:lstStyle/>
                    <a:p>
                      <a:r>
                        <a:rPr lang="en-US" dirty="0"/>
                        <a:t>Natural language understanding.</a:t>
                      </a:r>
                    </a:p>
                    <a:p>
                      <a:r>
                        <a:rPr lang="en-US" dirty="0"/>
                        <a:t>Training the chatbot using appropriate methods.</a:t>
                      </a:r>
                    </a:p>
                  </a:txBody>
                  <a:tcPr/>
                </a:tc>
                <a:tc>
                  <a:txBody>
                    <a:bodyPr/>
                    <a:lstStyle/>
                    <a:p>
                      <a:endParaRPr lang="en-IN" dirty="0"/>
                    </a:p>
                  </a:txBody>
                  <a:tcPr/>
                </a:tc>
                <a:tc>
                  <a:txBody>
                    <a:bodyPr/>
                    <a:lstStyle/>
                    <a:p>
                      <a:r>
                        <a:rPr lang="en-US" dirty="0"/>
                        <a:t>Low user satisfaction rates in the banking industry.</a:t>
                      </a:r>
                    </a:p>
                    <a:p>
                      <a:r>
                        <a:rPr lang="en-US" dirty="0"/>
                        <a:t>Limited technology to increase accessibility for users.</a:t>
                      </a:r>
                    </a:p>
                  </a:txBody>
                  <a:tcPr/>
                </a:tc>
                <a:tc>
                  <a:txBody>
                    <a:bodyPr/>
                    <a:lstStyle/>
                    <a:p>
                      <a:r>
                        <a:rPr lang="en-IN" dirty="0"/>
                        <a:t>-</a:t>
                      </a:r>
                    </a:p>
                  </a:txBody>
                  <a:tcPr/>
                </a:tc>
                <a:extLst>
                  <a:ext uri="{0D108BD9-81ED-4DB2-BD59-A6C34878D82A}">
                    <a16:rowId xmlns:a16="http://schemas.microsoft.com/office/drawing/2014/main" val="1718662236"/>
                  </a:ext>
                </a:extLst>
              </a:tr>
            </a:tbl>
          </a:graphicData>
        </a:graphic>
      </p:graphicFrame>
    </p:spTree>
    <p:extLst>
      <p:ext uri="{BB962C8B-B14F-4D97-AF65-F5344CB8AC3E}">
        <p14:creationId xmlns:p14="http://schemas.microsoft.com/office/powerpoint/2010/main" val="2557584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F0924-9A92-F199-727C-15317F9D1C42}"/>
              </a:ext>
            </a:extLst>
          </p:cNvPr>
          <p:cNvSpPr>
            <a:spLocks noGrp="1"/>
          </p:cNvSpPr>
          <p:nvPr>
            <p:ph type="title"/>
          </p:nvPr>
        </p:nvSpPr>
        <p:spPr/>
        <p:txBody>
          <a:bodyPr/>
          <a:lstStyle/>
          <a:p>
            <a:r>
              <a:rPr lang="en-IN" dirty="0"/>
              <a:t>PROPOSED METHODOLOGY</a:t>
            </a:r>
          </a:p>
        </p:txBody>
      </p:sp>
      <p:sp>
        <p:nvSpPr>
          <p:cNvPr id="3" name="Text Placeholder 2">
            <a:extLst>
              <a:ext uri="{FF2B5EF4-FFF2-40B4-BE49-F238E27FC236}">
                <a16:creationId xmlns:a16="http://schemas.microsoft.com/office/drawing/2014/main" id="{4868D223-8180-6262-2121-BFB720D145CD}"/>
              </a:ext>
            </a:extLst>
          </p:cNvPr>
          <p:cNvSpPr>
            <a:spLocks noGrp="1"/>
          </p:cNvSpPr>
          <p:nvPr>
            <p:ph type="body" idx="1"/>
          </p:nvPr>
        </p:nvSpPr>
        <p:spPr>
          <a:xfrm>
            <a:off x="812799" y="956738"/>
            <a:ext cx="5800553" cy="5381717"/>
          </a:xfrm>
        </p:spPr>
        <p:txBody>
          <a:bodyPr>
            <a:normAutofit fontScale="92500" lnSpcReduction="20000"/>
          </a:bodyPr>
          <a:lstStyle/>
          <a:p>
            <a:pPr marL="76200" indent="0" algn="just">
              <a:buNone/>
            </a:pPr>
            <a:r>
              <a:rPr kumimoji="0" lang="en-US" altLang="en-US" sz="2400" b="1" i="0" u="none" strike="noStrike" cap="none" normalizeH="0" baseline="0" dirty="0">
                <a:ln>
                  <a:noFill/>
                </a:ln>
                <a:solidFill>
                  <a:schemeClr val="tx1"/>
                </a:solidFill>
                <a:effectLst/>
                <a:latin typeface="Arial" panose="020B0604020202020204" pitchFamily="34" charset="0"/>
              </a:rPr>
              <a:t>Client-Side Web Development for Interactive UI</a:t>
            </a:r>
          </a:p>
          <a:p>
            <a:pPr marL="76200" indent="0" algn="just">
              <a:buNone/>
            </a:pPr>
            <a:r>
              <a:rPr kumimoji="0" lang="en-US" altLang="en-US" sz="2400" b="0" i="0" u="none" strike="noStrike" cap="none" normalizeH="0" baseline="0" dirty="0">
                <a:ln>
                  <a:noFill/>
                </a:ln>
                <a:solidFill>
                  <a:schemeClr val="tx1"/>
                </a:solidFill>
                <a:effectLst/>
                <a:latin typeface="Arial" panose="020B0604020202020204" pitchFamily="34" charset="0"/>
              </a:rPr>
              <a:t>• The chatbot's user interface will be built directly within the web browser using fundamental web technologies.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HTML will structure all visible elements of the chatbot, including the main chat window, input field, buttons for actions, voice input, and language selection.</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CSS will style these HTML elements, controlling their appearance and ensuring a visually cohesive look.</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JavaScript will provide the dynamic and interactive behavior of the chatbot, handling user interactions, making requests to external services, managing the conversation flow, and dynamically updating the interface.</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5E140AF-F6D4-BA78-9FC8-B0E14F29B593}"/>
              </a:ext>
            </a:extLst>
          </p:cNvPr>
          <p:cNvPicPr>
            <a:picLocks noChangeAspect="1"/>
          </p:cNvPicPr>
          <p:nvPr/>
        </p:nvPicPr>
        <p:blipFill>
          <a:blip r:embed="rId2"/>
          <a:srcRect t="22573"/>
          <a:stretch/>
        </p:blipFill>
        <p:spPr>
          <a:xfrm>
            <a:off x="6613353" y="2460735"/>
            <a:ext cx="5453461" cy="2574666"/>
          </a:xfrm>
          <a:prstGeom prst="rect">
            <a:avLst/>
          </a:prstGeom>
        </p:spPr>
      </p:pic>
    </p:spTree>
    <p:extLst>
      <p:ext uri="{BB962C8B-B14F-4D97-AF65-F5344CB8AC3E}">
        <p14:creationId xmlns:p14="http://schemas.microsoft.com/office/powerpoint/2010/main" val="273550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357D1-4A4A-A237-FC38-D17CD64388B3}"/>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48FA2EB-F206-D158-2D3F-221B43022969}"/>
              </a:ext>
            </a:extLst>
          </p:cNvPr>
          <p:cNvSpPr>
            <a:spLocks noGrp="1"/>
          </p:cNvSpPr>
          <p:nvPr>
            <p:ph type="body" idx="1"/>
          </p:nvPr>
        </p:nvSpPr>
        <p:spPr>
          <a:xfrm>
            <a:off x="512617" y="1246911"/>
            <a:ext cx="11012055" cy="4779817"/>
          </a:xfrm>
        </p:spPr>
        <p:txBody>
          <a:bodyPr>
            <a:normAutofit fontScale="92500" lnSpcReduction="20000"/>
          </a:bodyPr>
          <a:lstStyle/>
          <a:p>
            <a:pPr marL="76200" indent="0">
              <a:buNone/>
            </a:pPr>
            <a:r>
              <a:rPr kumimoji="0" lang="en-US" altLang="en-US" sz="2400" b="1" i="0" u="none" strike="noStrike" cap="none" normalizeH="0" baseline="0" dirty="0">
                <a:ln>
                  <a:noFill/>
                </a:ln>
                <a:solidFill>
                  <a:schemeClr val="tx1"/>
                </a:solidFill>
                <a:effectLst/>
                <a:latin typeface="Arial" panose="020B0604020202020204" pitchFamily="34" charset="0"/>
              </a:rPr>
              <a:t>Event-Driven Programming for User Interaction</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The chatbot's responsiveness to user actions will be managed through an event-driven programming paradigm.</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JavaScript's event listener mechanism will attach specific functions to user-initiated events, ensuring dynamic and immediate feedback to user interactions.</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This approach is common in chatbots designed for customer support on e-commerce websites like Amazon and Flipkart.</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and a clean, minimalistic aesthetic.</a:t>
            </a:r>
          </a:p>
          <a:p>
            <a:pPr marL="76200" indent="0">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76200" indent="0">
              <a:buNone/>
            </a:pPr>
            <a:r>
              <a:rPr kumimoji="0" lang="en-US" altLang="en-US" sz="2400" b="1" i="0" u="none" strike="noStrike" cap="none" normalizeH="0" baseline="0" dirty="0">
                <a:ln>
                  <a:noFill/>
                </a:ln>
                <a:solidFill>
                  <a:schemeClr val="tx1"/>
                </a:solidFill>
                <a:effectLst/>
                <a:latin typeface="Arial" panose="020B0604020202020204" pitchFamily="34" charset="0"/>
              </a:rPr>
              <a:t>API-Based Natural Language Processing (NLP)</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The chatbot will integrate with an external Natural Language Processing (NLP) service through an Application Programming Interface (API).</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The OpenAI GPT-3.5 API will be used to understand and respond to user queries in a human-like manner.</a:t>
            </a:r>
            <a:br>
              <a:rPr kumimoji="0" lang="en-US" altLang="en-US" sz="2400" b="0" i="0" u="none" strike="noStrike" cap="none" normalizeH="0" baseline="0" dirty="0">
                <a:ln>
                  <a:noFill/>
                </a:ln>
                <a:solidFill>
                  <a:schemeClr val="tx1"/>
                </a:solidFill>
                <a:effectLst/>
                <a:latin typeface="Arial" panose="020B0604020202020204" pitchFamily="34" charset="0"/>
              </a:rPr>
            </a:br>
            <a:r>
              <a:rPr kumimoji="0" lang="en-US" altLang="en-US" sz="2400" b="0" i="0" u="none" strike="noStrike" cap="none" normalizeH="0" baseline="0" dirty="0">
                <a:ln>
                  <a:noFill/>
                </a:ln>
                <a:solidFill>
                  <a:schemeClr val="tx1"/>
                </a:solidFill>
                <a:effectLst/>
                <a:latin typeface="Arial" panose="020B0604020202020204" pitchFamily="34" charset="0"/>
              </a:rPr>
              <a:t>• This technology is used in advanced conversational AI systems like ChatGPT and Bing Chat, and customer service chatbots in the banking sector.</a:t>
            </a:r>
            <a:endParaRPr lang="en-IN" dirty="0"/>
          </a:p>
        </p:txBody>
      </p:sp>
    </p:spTree>
    <p:extLst>
      <p:ext uri="{BB962C8B-B14F-4D97-AF65-F5344CB8AC3E}">
        <p14:creationId xmlns:p14="http://schemas.microsoft.com/office/powerpoint/2010/main" val="2861828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B336E-8F7E-9877-FED4-B2A8582C7EC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EAEAB03-6F7E-4853-934C-8BCF6929BDD0}"/>
              </a:ext>
            </a:extLst>
          </p:cNvPr>
          <p:cNvSpPr>
            <a:spLocks noGrp="1"/>
          </p:cNvSpPr>
          <p:nvPr>
            <p:ph type="body" idx="1"/>
          </p:nvPr>
        </p:nvSpPr>
        <p:spPr/>
        <p:txBody>
          <a:bodyPr>
            <a:normAutofit fontScale="92500" lnSpcReduction="20000"/>
          </a:bodyPr>
          <a:lstStyle/>
          <a:p>
            <a:pPr marL="76200" indent="0">
              <a:buNone/>
            </a:pPr>
            <a:r>
              <a:rPr kumimoji="0" lang="en-US" altLang="en-US" b="1" i="0" u="none" strike="noStrike" cap="none" normalizeH="0" baseline="0" dirty="0">
                <a:ln>
                  <a:noFill/>
                </a:ln>
                <a:solidFill>
                  <a:schemeClr val="tx1"/>
                </a:solidFill>
                <a:effectLst/>
                <a:latin typeface="Arial" panose="020B0604020202020204" pitchFamily="34" charset="0"/>
              </a:rPr>
              <a:t>Multilingual Processing via Language Selection</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The chatbot will support interactions in multiple languages, offering inclusivity to a wider range of users.</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A language selection mechanism will be implemented to register a particular language.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Once a language is chosen, the chatbot will understand queries in that language and provide its answers in the same language.</a:t>
            </a:r>
            <a:br>
              <a:rPr kumimoji="0" lang="en-US" altLang="en-US" b="0" i="0" u="none" strike="noStrike" cap="none" normalizeH="0" baseline="0" dirty="0">
                <a:ln>
                  <a:noFill/>
                </a:ln>
                <a:solidFill>
                  <a:schemeClr val="tx1"/>
                </a:solidFill>
                <a:effectLst/>
                <a:latin typeface="Arial" panose="020B0604020202020204" pitchFamily="34" charset="0"/>
              </a:rPr>
            </a:b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1" i="0" u="none" strike="noStrike" cap="none" normalizeH="0" baseline="0" dirty="0">
                <a:ln>
                  <a:noFill/>
                </a:ln>
                <a:solidFill>
                  <a:schemeClr val="tx1"/>
                </a:solidFill>
                <a:effectLst/>
                <a:latin typeface="Arial" panose="020B0604020202020204" pitchFamily="34" charset="0"/>
              </a:rPr>
              <a:t>Speech Processing Capabilities</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Speech Recognition (Voice Input) will be implemented to enable users to interact with the chatbot using their voice.</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Text-to-Speech (TTS) functionality will be incorporated using the Speech Synthesis API.</a:t>
            </a:r>
            <a:br>
              <a:rPr kumimoji="0" lang="en-US" altLang="en-US" b="0" i="0" u="none" strike="noStrike" cap="none" normalizeH="0" baseline="0" dirty="0">
                <a:ln>
                  <a:noFill/>
                </a:ln>
                <a:solidFill>
                  <a:schemeClr val="tx1"/>
                </a:solidFill>
                <a:effectLst/>
                <a:latin typeface="Arial" panose="020B0604020202020204" pitchFamily="34" charset="0"/>
              </a:rPr>
            </a:b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1" i="0" u="none" strike="noStrike" cap="none" normalizeH="0" baseline="0" dirty="0">
                <a:ln>
                  <a:noFill/>
                </a:ln>
                <a:solidFill>
                  <a:schemeClr val="tx1"/>
                </a:solidFill>
                <a:effectLst/>
                <a:latin typeface="Arial" panose="020B0604020202020204" pitchFamily="34" charset="0"/>
              </a:rPr>
              <a:t>UX and Accessibility Considerations</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 The design of the chatbot's user interface will prioritize interactivity and a clean, minimalistic aesthetic.</a:t>
            </a:r>
          </a:p>
        </p:txBody>
      </p:sp>
    </p:spTree>
    <p:extLst>
      <p:ext uri="{BB962C8B-B14F-4D97-AF65-F5344CB8AC3E}">
        <p14:creationId xmlns:p14="http://schemas.microsoft.com/office/powerpoint/2010/main" val="4169206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6C24A-B551-565D-F7CA-64EFFB99AC69}"/>
              </a:ext>
            </a:extLst>
          </p:cNvPr>
          <p:cNvSpPr>
            <a:spLocks noGrp="1"/>
          </p:cNvSpPr>
          <p:nvPr>
            <p:ph type="title"/>
          </p:nvPr>
        </p:nvSpPr>
        <p:spPr/>
        <p:txBody>
          <a:bodyPr/>
          <a:lstStyle/>
          <a:p>
            <a:r>
              <a:rPr lang="en-IN" dirty="0"/>
              <a:t>OBJECTIVES</a:t>
            </a:r>
          </a:p>
        </p:txBody>
      </p:sp>
      <p:sp>
        <p:nvSpPr>
          <p:cNvPr id="6" name="Rectangle 3">
            <a:extLst>
              <a:ext uri="{FF2B5EF4-FFF2-40B4-BE49-F238E27FC236}">
                <a16:creationId xmlns:a16="http://schemas.microsoft.com/office/drawing/2014/main" id="{AAA24536-57E9-0398-3599-3A72BAEB68F4}"/>
              </a:ext>
            </a:extLst>
          </p:cNvPr>
          <p:cNvSpPr>
            <a:spLocks noGrp="1" noChangeArrowheads="1"/>
          </p:cNvSpPr>
          <p:nvPr>
            <p:ph type="body" idx="1"/>
          </p:nvPr>
        </p:nvSpPr>
        <p:spPr bwMode="auto">
          <a:xfrm>
            <a:off x="563880" y="1304002"/>
            <a:ext cx="1126236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Enhancing User Access to Legal Information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Aims to make fundamental legal information accessible to the public through a conversational interface.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Provides basic explanations of laws, outlining common legal procedures, and clarifying terminology.</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Aims to empower citizens to better understand their rights and responsibilities.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Providing Efficient Responses to Common Queries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Aims to automate the handling of frequently asked questions.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Trains the chatbot to understand and respond accurately to routine inquiries.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Provides information on standard procedures, directs users to relevant resources, and offers quick answers to common laws and regulations.</a:t>
            </a:r>
          </a:p>
        </p:txBody>
      </p:sp>
    </p:spTree>
    <p:extLst>
      <p:ext uri="{BB962C8B-B14F-4D97-AF65-F5344CB8AC3E}">
        <p14:creationId xmlns:p14="http://schemas.microsoft.com/office/powerpoint/2010/main" val="3998376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943D6-5C2E-4D8A-14D3-015FE662876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FA362B69-909C-5D9D-4E86-16071A40C06F}"/>
              </a:ext>
            </a:extLst>
          </p:cNvPr>
          <p:cNvSpPr>
            <a:spLocks noGrp="1"/>
          </p:cNvSpPr>
          <p:nvPr>
            <p:ph type="body" idx="1"/>
          </p:nvPr>
        </p:nvSpPr>
        <p:spPr/>
        <p:txBody>
          <a:bodyPr>
            <a:norm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Offering Access to Case Information and Lawyer Details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Provides users with access to specific sets of data.</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Enables users to find lists of cases based on certain criteria and access details of lawyers.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Improves transparency and provides valuable resources directly through the chatbot interface.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Improving User Experience and Engagement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Aims to enhance the overall user experience on the Department of Justice’s website.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ea typeface="Tahoma" panose="020B0604030504040204" pitchFamily="34" charset="0"/>
                <a:cs typeface="Times New Roman" panose="02020603050405020304" pitchFamily="18" charset="0"/>
              </a:rPr>
              <a:t>• Features like multilingual support and speech processing contribute to accessibility and user convenience.</a:t>
            </a:r>
          </a:p>
        </p:txBody>
      </p:sp>
    </p:spTree>
    <p:extLst>
      <p:ext uri="{BB962C8B-B14F-4D97-AF65-F5344CB8AC3E}">
        <p14:creationId xmlns:p14="http://schemas.microsoft.com/office/powerpoint/2010/main" val="802593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68B122-3B9E-5E40-DC10-765AFDCB669B}"/>
              </a:ext>
            </a:extLst>
          </p:cNvPr>
          <p:cNvSpPr txBox="1"/>
          <p:nvPr/>
        </p:nvSpPr>
        <p:spPr>
          <a:xfrm>
            <a:off x="689548" y="1154243"/>
            <a:ext cx="7644983" cy="4832092"/>
          </a:xfrm>
          <a:prstGeom prst="rect">
            <a:avLst/>
          </a:prstGeom>
          <a:noFill/>
        </p:spPr>
        <p:txBody>
          <a:bodyPr wrap="square">
            <a:spAutoFit/>
          </a:bodyPr>
          <a:lstStyle/>
          <a:p>
            <a:pPr marL="76200" indent="0">
              <a:buNone/>
            </a:pPr>
            <a:r>
              <a:rPr lang="en-US" sz="2200" dirty="0">
                <a:latin typeface="Times New Roman" panose="02020603050405020304" pitchFamily="18" charset="0"/>
                <a:cs typeface="Times New Roman" panose="02020603050405020304" pitchFamily="18" charset="0"/>
              </a:rPr>
              <a:t>• User → User Interface (Input &amp; Output): The process begins with the user sending a message through a User Interface (UI).</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Language Selection: The chatbot either detects the language automatically or prompts the user to select their preferred language.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Message Processing: The chatbot analyzes the input using natural language processing (NLP) techniques to understand the user’s intent.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Decision (Local Data / OpenAI API Call): The chatbot evaluates if it can handle the query using local data.</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 Local Data Search → Response Generation / OpenAI API Call → Response Generation: If local data is found, the chatbot fetches the response from internal sources. If not, the query is sent to the OpenAI API.</a:t>
            </a:r>
            <a:endParaRPr lang="en-IN"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B661573-43CF-046E-929B-46933889D170}"/>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74029" y="1312601"/>
            <a:ext cx="2853055" cy="4458290"/>
          </a:xfrm>
          <a:prstGeom prst="rect">
            <a:avLst/>
          </a:prstGeom>
          <a:noFill/>
        </p:spPr>
      </p:pic>
      <p:sp>
        <p:nvSpPr>
          <p:cNvPr id="6" name="TextBox 5">
            <a:extLst>
              <a:ext uri="{FF2B5EF4-FFF2-40B4-BE49-F238E27FC236}">
                <a16:creationId xmlns:a16="http://schemas.microsoft.com/office/drawing/2014/main" id="{EC5DC390-DFF2-DF1C-2FCA-0CDFE3F94DBC}"/>
              </a:ext>
            </a:extLst>
          </p:cNvPr>
          <p:cNvSpPr txBox="1"/>
          <p:nvPr/>
        </p:nvSpPr>
        <p:spPr>
          <a:xfrm>
            <a:off x="807720" y="302725"/>
            <a:ext cx="8077200" cy="523220"/>
          </a:xfrm>
          <a:prstGeom prst="rect">
            <a:avLst/>
          </a:prstGeom>
          <a:noFill/>
        </p:spPr>
        <p:txBody>
          <a:bodyPr wrap="square" rtlCol="0">
            <a:spAutoFit/>
          </a:bodyPr>
          <a:lstStyle/>
          <a:p>
            <a:r>
              <a:rPr lang="en-IN" sz="2800" b="1" dirty="0">
                <a:solidFill>
                  <a:schemeClr val="bg2">
                    <a:lumMod val="75000"/>
                  </a:schemeClr>
                </a:solidFill>
                <a:latin typeface="Verdana" panose="020B0604030504040204" pitchFamily="34" charset="0"/>
                <a:ea typeface="Verdana" panose="020B0604030504040204" pitchFamily="34" charset="0"/>
              </a:rPr>
              <a:t>SYSTEM DESIGN &amp; WORKFLOW</a:t>
            </a:r>
          </a:p>
        </p:txBody>
      </p:sp>
    </p:spTree>
    <p:extLst>
      <p:ext uri="{BB962C8B-B14F-4D97-AF65-F5344CB8AC3E}">
        <p14:creationId xmlns:p14="http://schemas.microsoft.com/office/powerpoint/2010/main" val="260925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A9828-F0C5-09B4-F7A3-180C2500BAC4}"/>
              </a:ext>
            </a:extLst>
          </p:cNvPr>
          <p:cNvSpPr>
            <a:spLocks noGrp="1"/>
          </p:cNvSpPr>
          <p:nvPr>
            <p:ph type="title"/>
          </p:nvPr>
        </p:nvSpPr>
        <p:spPr/>
        <p:txBody>
          <a:bodyPr/>
          <a:lstStyle/>
          <a:p>
            <a:r>
              <a:rPr lang="en-IN" dirty="0"/>
              <a:t>TIMELINE OF PROJECT</a:t>
            </a:r>
          </a:p>
        </p:txBody>
      </p:sp>
      <p:sp>
        <p:nvSpPr>
          <p:cNvPr id="3" name="Text Placeholder 2">
            <a:extLst>
              <a:ext uri="{FF2B5EF4-FFF2-40B4-BE49-F238E27FC236}">
                <a16:creationId xmlns:a16="http://schemas.microsoft.com/office/drawing/2014/main" id="{776F786F-A1CE-A2C9-4219-40996139A1CF}"/>
              </a:ext>
            </a:extLst>
          </p:cNvPr>
          <p:cNvSpPr>
            <a:spLocks noGrp="1"/>
          </p:cNvSpPr>
          <p:nvPr>
            <p:ph type="body" idx="1"/>
          </p:nvPr>
        </p:nvSpPr>
        <p:spPr/>
        <p:txBody>
          <a:bodyPr>
            <a:normAutofit lnSpcReduction="10000"/>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 1: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Requirement Analysis and Model Selection (January 30 - February 14)</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Focuses on defining chatbot's functionalities, identifying target users, and selecting AI models.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Two weeks for thorough research and decision-making.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 2: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 and Preprocessing (February 15 - March 15)</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Involves gathering necessary data for training, cleaning, formatting, and preparing for model training.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month for data quality assessment.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 3: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 and Testing (March 16 - April 15)</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Involves training the chosen AI model(s) using the prepared data, evaluating its performance, and fine-tuning it.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month for iterative training and testing.</a:t>
            </a:r>
          </a:p>
          <a:p>
            <a:pPr marL="76200" indent="0">
              <a:buNone/>
            </a:pPr>
            <a:endParaRPr lang="en-IN" dirty="0"/>
          </a:p>
        </p:txBody>
      </p:sp>
    </p:spTree>
    <p:extLst>
      <p:ext uri="{BB962C8B-B14F-4D97-AF65-F5344CB8AC3E}">
        <p14:creationId xmlns:p14="http://schemas.microsoft.com/office/powerpoint/2010/main" val="1639251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6D11D-E86E-CF78-F731-ED4D35C170FB}"/>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9B0F6C6-961A-A79E-DEAD-6012B6900FA3}"/>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 4: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and Initial Testing on the Website (April 16 - April 30)</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Involves integrating the trained chatbot with the department's website.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 5: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Testing, Evaluation, and Deployment (May 1 - May 15)</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Involves comprehensive testing, gathering user feedback, making adjustments, and officially deploying the chatbot.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 6: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Maintenance and Continuous Improvement (</a:t>
            </a:r>
            <a:r>
              <a:rPr lang="en-US" altLang="en-US" dirty="0">
                <a:solidFill>
                  <a:schemeClr val="tx1"/>
                </a:solidFill>
                <a:latin typeface="Times New Roman" panose="02020603050405020304" pitchFamily="18" charset="0"/>
                <a:cs typeface="Times New Roman" panose="02020603050405020304" pitchFamily="18" charset="0"/>
              </a:rPr>
              <a:t>Ongoing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Involves monitoring the chatbot's performance, addressing user feedback, implementing updates, and ensuring its long-term effectiveness.</a:t>
            </a:r>
          </a:p>
          <a:p>
            <a:pPr marL="76200" indent="0">
              <a:buNone/>
            </a:pPr>
            <a:endParaRPr lang="en-IN" dirty="0"/>
          </a:p>
        </p:txBody>
      </p:sp>
    </p:spTree>
    <p:extLst>
      <p:ext uri="{BB962C8B-B14F-4D97-AF65-F5344CB8AC3E}">
        <p14:creationId xmlns:p14="http://schemas.microsoft.com/office/powerpoint/2010/main" val="2856677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9680E-3748-D141-DC37-2244FF7C1F4C}"/>
              </a:ext>
            </a:extLst>
          </p:cNvPr>
          <p:cNvSpPr>
            <a:spLocks noGrp="1"/>
          </p:cNvSpPr>
          <p:nvPr>
            <p:ph type="title"/>
          </p:nvPr>
        </p:nvSpPr>
        <p:spPr/>
        <p:txBody>
          <a:bodyPr/>
          <a:lstStyle/>
          <a:p>
            <a:r>
              <a:rPr lang="en-GB" sz="3200" dirty="0">
                <a:latin typeface="Times New Roman" panose="02020603050405020304" pitchFamily="18" charset="0"/>
                <a:ea typeface="Cambria" panose="02040503050406030204" pitchFamily="18" charset="0"/>
                <a:cs typeface="Times New Roman" panose="02020603050405020304" pitchFamily="18" charset="0"/>
              </a:rPr>
              <a:t>EXPECTED OUTCOMES</a:t>
            </a:r>
            <a:endParaRPr lang="en-IN" sz="32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8" name="Rectangle 5">
            <a:extLst>
              <a:ext uri="{FF2B5EF4-FFF2-40B4-BE49-F238E27FC236}">
                <a16:creationId xmlns:a16="http://schemas.microsoft.com/office/drawing/2014/main" id="{1FD6E20A-2474-C009-8877-4C16C5D11FF3}"/>
              </a:ext>
            </a:extLst>
          </p:cNvPr>
          <p:cNvSpPr>
            <a:spLocks noGrp="1" noChangeArrowheads="1"/>
          </p:cNvSpPr>
          <p:nvPr>
            <p:ph type="body" idx="1"/>
          </p:nvPr>
        </p:nvSpPr>
        <p:spPr bwMode="auto">
          <a:xfrm>
            <a:off x="1002786" y="1291276"/>
            <a:ext cx="10186428"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fully functional chatbot integrated into the Department of Justice's website interface.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Offers a user-friendly interface for querying legal information.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Enhances public access to basic legal information.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Serves as a first point of contact for common legal inquiries.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 searchable database of relevant cases.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Streamlines the process of finding relevant case information for DOJ personnel.</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 directory of lawyers with specializations.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Improves user experience on the DOJ website.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Potentially reduces basic inquiry load for DOJ staff.</a:t>
            </a:r>
          </a:p>
        </p:txBody>
      </p:sp>
    </p:spTree>
    <p:extLst>
      <p:ext uri="{BB962C8B-B14F-4D97-AF65-F5344CB8AC3E}">
        <p14:creationId xmlns:p14="http://schemas.microsoft.com/office/powerpoint/2010/main" val="3784556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EDFEC-0C25-AA78-7B4A-BDB6D5580534}"/>
              </a:ext>
            </a:extLst>
          </p:cNvPr>
          <p:cNvSpPr>
            <a:spLocks noGrp="1"/>
          </p:cNvSpPr>
          <p:nvPr>
            <p:ph type="title"/>
          </p:nvPr>
        </p:nvSpPr>
        <p:spPr/>
        <p:txBody>
          <a:bodyPr/>
          <a:lstStyle/>
          <a:p>
            <a:r>
              <a:rPr lang="en-IN" sz="3200" dirty="0">
                <a:latin typeface="Times New Roman" panose="02020603050405020304" pitchFamily="18" charset="0"/>
                <a:ea typeface="Cambria" panose="02040503050406030204" pitchFamily="18" charset="0"/>
                <a:cs typeface="Times New Roman" panose="02020603050405020304" pitchFamily="18" charset="0"/>
              </a:rPr>
              <a:t>CONCLUSION</a:t>
            </a:r>
          </a:p>
        </p:txBody>
      </p:sp>
      <p:sp>
        <p:nvSpPr>
          <p:cNvPr id="3" name="Text Placeholder 2">
            <a:extLst>
              <a:ext uri="{FF2B5EF4-FFF2-40B4-BE49-F238E27FC236}">
                <a16:creationId xmlns:a16="http://schemas.microsoft.com/office/drawing/2014/main" id="{4DAE77E5-99D6-E0E1-F118-BAAC0B47EFCA}"/>
              </a:ext>
            </a:extLst>
          </p:cNvPr>
          <p:cNvSpPr>
            <a:spLocks noGrp="1"/>
          </p:cNvSpPr>
          <p:nvPr>
            <p:ph type="body" idx="1"/>
          </p:nvPr>
        </p:nvSpPr>
        <p:spPr/>
        <p:txBody>
          <a:bodyPr>
            <a:normAutofit lnSpcReduction="10000"/>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Department of Justice has developed an AI-based interactive chatbot for its website, which aims to improve accessibility to legal information and streamline internal processes. The chatbot provides instant answers to common legal queries and offers efficient access to case details and lawyer information. The project has demonstrated the feasibility and significant potential of AI in making legal resources more accessible and user-friendly. The chatbot offers a range of functionalities designed to enhance user experience, improve departmental efficiency, and bolster the department's online presence. It can handle frequently asked questions, provide personalized guidance, and schedule appointments, enhancing the department's interaction with constituents. The development process has been a valuable learning experience, highlighting the importance of thorough requirement analysis, robust data collection and preprocessing, and continuous model training and refinement. Natural Language Processing techniques, such as intent recognition and entity extraction, have been used to ensure the chatbot accurately understands and responds to user queries. The integration of the chatbot with the department's website has been carefully executed to ensure seamless user interaction and visual consistency. The AI-based chatbot serves as a dynamic and evolving tool that will continue to adapt to the changing needs of the department and its users, solidifying the department's commitment to innovation and exceptional service.</a:t>
            </a:r>
          </a:p>
        </p:txBody>
      </p:sp>
    </p:spTree>
    <p:extLst>
      <p:ext uri="{BB962C8B-B14F-4D97-AF65-F5344CB8AC3E}">
        <p14:creationId xmlns:p14="http://schemas.microsoft.com/office/powerpoint/2010/main" val="533438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sz="3200"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sz="32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520290" y="1195286"/>
            <a:ext cx="11253020" cy="5388076"/>
          </a:xfrm>
          <a:prstGeom prst="rect">
            <a:avLst/>
          </a:prstGeom>
          <a:noFill/>
          <a:ln>
            <a:noFill/>
          </a:ln>
        </p:spPr>
        <p:txBody>
          <a:bodyPr spcFirstLastPara="1" wrap="square" lIns="91425" tIns="45700" rIns="91425" bIns="45700" anchor="t" anchorCtr="0">
            <a:noAutofit/>
          </a:bodyPr>
          <a:lstStyle/>
          <a:p>
            <a:pPr algn="just">
              <a:buNone/>
            </a:pPr>
            <a:r>
              <a:rPr lang="en-IN" sz="1400" dirty="0">
                <a:latin typeface="Times New Roman" panose="02020603050405020304" pitchFamily="18" charset="0"/>
                <a:cs typeface="Times New Roman" panose="02020603050405020304" pitchFamily="18" charset="0"/>
              </a:rPr>
              <a:t>1. Pushpa, R. N., Walke, S. G., Sharadhi, D., Sharvari, P. K., &amp; Shreya, C. (2024). AI Powered Legal Querying System using NLP. International Journal For Science Technology And Engineering, 12(12), 726–730. https://doi.org/10.22214/ijraset.2024.65895</a:t>
            </a:r>
          </a:p>
          <a:p>
            <a:pPr algn="just">
              <a:buNone/>
            </a:pPr>
            <a:r>
              <a:rPr lang="en-IN" sz="1400" dirty="0">
                <a:latin typeface="Times New Roman" panose="02020603050405020304" pitchFamily="18" charset="0"/>
                <a:cs typeface="Times New Roman" panose="02020603050405020304" pitchFamily="18" charset="0"/>
              </a:rPr>
              <a:t>2. Pandey, S., Pandey, N. C., &amp; Bajaj, Y. (2024). AI Enabled Chatbot. International Journal for Research in Applied Science and Engineering Technology. https://doi.org/10.22214/ijraset.2024.60147</a:t>
            </a:r>
          </a:p>
          <a:p>
            <a:pPr algn="just">
              <a:buNone/>
            </a:pPr>
            <a:r>
              <a:rPr lang="en-IN" sz="1400" dirty="0">
                <a:latin typeface="Times New Roman" panose="02020603050405020304" pitchFamily="18" charset="0"/>
                <a:cs typeface="Times New Roman" panose="02020603050405020304" pitchFamily="18" charset="0"/>
              </a:rPr>
              <a:t>3. Chauhan, D., Singh, M., Sharma, A., Narang, H. K., Vats, S., &amp; Sharma, V. (2024). Development of a Legal Chatbot for Comprehensive User Support. 1–4. https://doi.org/10.1109/apcit62007.2024.10673669</a:t>
            </a:r>
          </a:p>
          <a:p>
            <a:pPr algn="just">
              <a:buNone/>
            </a:pPr>
            <a:r>
              <a:rPr lang="en-IN" sz="1400" dirty="0">
                <a:latin typeface="Times New Roman" panose="02020603050405020304" pitchFamily="18" charset="0"/>
                <a:cs typeface="Times New Roman" panose="02020603050405020304" pitchFamily="18" charset="0"/>
              </a:rPr>
              <a:t>4. </a:t>
            </a:r>
            <a:r>
              <a:rPr lang="en-IN" sz="1400" dirty="0" err="1">
                <a:latin typeface="Times New Roman" panose="02020603050405020304" pitchFamily="18" charset="0"/>
                <a:cs typeface="Times New Roman" panose="02020603050405020304" pitchFamily="18" charset="0"/>
              </a:rPr>
              <a:t>Misquitta</a:t>
            </a:r>
            <a:r>
              <a:rPr lang="en-IN" sz="1400" dirty="0">
                <a:latin typeface="Times New Roman" panose="02020603050405020304" pitchFamily="18" charset="0"/>
                <a:cs typeface="Times New Roman" panose="02020603050405020304" pitchFamily="18" charset="0"/>
              </a:rPr>
              <a:t>, Z., Sawant, A. A., Shaikh, A. U., Patil, A. S., &amp; </a:t>
            </a:r>
            <a:r>
              <a:rPr lang="en-IN" sz="1400" dirty="0" err="1">
                <a:latin typeface="Times New Roman" panose="02020603050405020304" pitchFamily="18" charset="0"/>
                <a:cs typeface="Times New Roman" panose="02020603050405020304" pitchFamily="18" charset="0"/>
              </a:rPr>
              <a:t>Narkar</a:t>
            </a:r>
            <a:r>
              <a:rPr lang="en-IN" sz="1400" dirty="0">
                <a:latin typeface="Times New Roman" panose="02020603050405020304" pitchFamily="18" charset="0"/>
                <a:cs typeface="Times New Roman" panose="02020603050405020304" pitchFamily="18" charset="0"/>
              </a:rPr>
              <a:t>, N. (2024). Law Chatbot. International Journal For Science Technology And Engineering, 12(5), 164–170. https://doi.org/10.22214/ijraset.2024.61361</a:t>
            </a:r>
          </a:p>
          <a:p>
            <a:pPr algn="just">
              <a:buNone/>
            </a:pPr>
            <a:r>
              <a:rPr lang="en-IN" sz="1400" dirty="0">
                <a:latin typeface="Times New Roman" panose="02020603050405020304" pitchFamily="18" charset="0"/>
                <a:cs typeface="Times New Roman" panose="02020603050405020304" pitchFamily="18" charset="0"/>
              </a:rPr>
              <a:t>5. Wyawahare, M., Roy, S., &amp; </a:t>
            </a:r>
            <a:r>
              <a:rPr lang="en-IN" sz="1400" dirty="0" err="1">
                <a:latin typeface="Times New Roman" panose="02020603050405020304" pitchFamily="18" charset="0"/>
                <a:cs typeface="Times New Roman" panose="02020603050405020304" pitchFamily="18" charset="0"/>
              </a:rPr>
              <a:t>Zanwar</a:t>
            </a:r>
            <a:r>
              <a:rPr lang="en-IN" sz="1400" dirty="0">
                <a:latin typeface="Times New Roman" panose="02020603050405020304" pitchFamily="18" charset="0"/>
                <a:cs typeface="Times New Roman" panose="02020603050405020304" pitchFamily="18" charset="0"/>
              </a:rPr>
              <a:t>, S. (2024). Generative vs Intent-based Chatbot for Judicial Advice. 2, 1–6. https://doi.org/10.1109/iatmsi60426.2024.10502550</a:t>
            </a:r>
          </a:p>
          <a:p>
            <a:pPr algn="just">
              <a:buNone/>
            </a:pPr>
            <a:r>
              <a:rPr lang="en-IN" sz="1400" dirty="0">
                <a:latin typeface="Times New Roman" panose="02020603050405020304" pitchFamily="18" charset="0"/>
                <a:cs typeface="Times New Roman" panose="02020603050405020304" pitchFamily="18" charset="0"/>
              </a:rPr>
              <a:t>6. Sudha, S., Jothikumar, K., Aravind, S., Dhanush Raj, R., &amp; </a:t>
            </a:r>
            <a:r>
              <a:rPr lang="en-IN" sz="1400" dirty="0" err="1">
                <a:latin typeface="Times New Roman" panose="02020603050405020304" pitchFamily="18" charset="0"/>
                <a:cs typeface="Times New Roman" panose="02020603050405020304" pitchFamily="18" charset="0"/>
              </a:rPr>
              <a:t>Jaibharath</a:t>
            </a:r>
            <a:r>
              <a:rPr lang="en-IN" sz="1400" dirty="0">
                <a:latin typeface="Times New Roman" panose="02020603050405020304" pitchFamily="18" charset="0"/>
                <a:cs typeface="Times New Roman" panose="02020603050405020304" pitchFamily="18" charset="0"/>
              </a:rPr>
              <a:t>, K. (2024). Legal Ease Chatbot – Bridging Legal Knowledge Gaps for Marginalized Communities. International Journal of Advanced Research in Science, Communication and Technology. https://doi.org/10.48175/ijarsct-17634</a:t>
            </a:r>
          </a:p>
          <a:p>
            <a:pPr algn="just">
              <a:buNone/>
            </a:pPr>
            <a:r>
              <a:rPr lang="en-IN" sz="1400" dirty="0">
                <a:latin typeface="Times New Roman" panose="02020603050405020304" pitchFamily="18" charset="0"/>
                <a:cs typeface="Times New Roman" panose="02020603050405020304" pitchFamily="18" charset="0"/>
              </a:rPr>
              <a:t>7. Kandula, A. R., </a:t>
            </a:r>
            <a:r>
              <a:rPr lang="en-IN" sz="1400" dirty="0" err="1">
                <a:latin typeface="Times New Roman" panose="02020603050405020304" pitchFamily="18" charset="0"/>
                <a:cs typeface="Times New Roman" panose="02020603050405020304" pitchFamily="18" charset="0"/>
              </a:rPr>
              <a:t>Tadiparthi</a:t>
            </a:r>
            <a:r>
              <a:rPr lang="en-IN" sz="1400" dirty="0">
                <a:latin typeface="Times New Roman" panose="02020603050405020304" pitchFamily="18" charset="0"/>
                <a:cs typeface="Times New Roman" panose="02020603050405020304" pitchFamily="18" charset="0"/>
              </a:rPr>
              <a:t>, M., </a:t>
            </a:r>
            <a:r>
              <a:rPr lang="en-IN" sz="1400" dirty="0" err="1">
                <a:latin typeface="Times New Roman" panose="02020603050405020304" pitchFamily="18" charset="0"/>
                <a:cs typeface="Times New Roman" panose="02020603050405020304" pitchFamily="18" charset="0"/>
              </a:rPr>
              <a:t>Yakkala</a:t>
            </a:r>
            <a:r>
              <a:rPr lang="en-IN" sz="1400" dirty="0">
                <a:latin typeface="Times New Roman" panose="02020603050405020304" pitchFamily="18" charset="0"/>
                <a:cs typeface="Times New Roman" panose="02020603050405020304" pitchFamily="18" charset="0"/>
              </a:rPr>
              <a:t>, P., Pasupuleti, S., </a:t>
            </a:r>
            <a:r>
              <a:rPr lang="en-IN" sz="1400" dirty="0" err="1">
                <a:latin typeface="Times New Roman" panose="02020603050405020304" pitchFamily="18" charset="0"/>
                <a:cs typeface="Times New Roman" panose="02020603050405020304" pitchFamily="18" charset="0"/>
              </a:rPr>
              <a:t>Pagolu</a:t>
            </a:r>
            <a:r>
              <a:rPr lang="en-IN" sz="1400" dirty="0">
                <a:latin typeface="Times New Roman" panose="02020603050405020304" pitchFamily="18" charset="0"/>
                <a:cs typeface="Times New Roman" panose="02020603050405020304" pitchFamily="18" charset="0"/>
              </a:rPr>
              <a:t>, P., &amp; </a:t>
            </a:r>
            <a:r>
              <a:rPr lang="en-IN" sz="1400" dirty="0" err="1">
                <a:latin typeface="Times New Roman" panose="02020603050405020304" pitchFamily="18" charset="0"/>
                <a:cs typeface="Times New Roman" panose="02020603050405020304" pitchFamily="18" charset="0"/>
              </a:rPr>
              <a:t>Potharlanka</a:t>
            </a:r>
            <a:r>
              <a:rPr lang="en-IN" sz="1400" dirty="0">
                <a:latin typeface="Times New Roman" panose="02020603050405020304" pitchFamily="18" charset="0"/>
                <a:cs typeface="Times New Roman" panose="02020603050405020304" pitchFamily="18" charset="0"/>
              </a:rPr>
              <a:t>, S. M. C. (2023). Design and Implementation of a Chatbot for Automated Legal Assistance using Natural Language Processing and Machine Learning. 1–6. </a:t>
            </a:r>
            <a:r>
              <a:rPr lang="en-IN" sz="1400" dirty="0">
                <a:latin typeface="Times New Roman" panose="02020603050405020304" pitchFamily="18" charset="0"/>
                <a:cs typeface="Times New Roman" panose="02020603050405020304" pitchFamily="18" charset="0"/>
                <a:hlinkClick r:id="rId3"/>
              </a:rPr>
              <a:t>https://doi.org/10.1109/aicera/icis59538.2023.10420298</a:t>
            </a:r>
            <a:endParaRPr lang="en-IN" sz="1400" dirty="0">
              <a:latin typeface="Times New Roman" panose="02020603050405020304" pitchFamily="18" charset="0"/>
              <a:cs typeface="Times New Roman" panose="02020603050405020304" pitchFamily="18" charset="0"/>
            </a:endParaRPr>
          </a:p>
          <a:p>
            <a:pPr algn="just">
              <a:buNone/>
            </a:pPr>
            <a:r>
              <a:rPr lang="en-US" sz="1400" dirty="0">
                <a:latin typeface="Times New Roman" panose="02020603050405020304" pitchFamily="18" charset="0"/>
                <a:ea typeface="Cambria" panose="02040503050406030204" pitchFamily="18" charset="0"/>
                <a:cs typeface="Times New Roman" panose="02020603050405020304" pitchFamily="18" charset="0"/>
              </a:rPr>
              <a:t>8. A., Barath, V., D, D. D., Dhilak, M., &amp; Saraswathi, R. V. (2024). </a:t>
            </a:r>
            <a:r>
              <a:rPr lang="en-US" sz="1400" dirty="0" err="1">
                <a:latin typeface="Times New Roman" panose="02020603050405020304" pitchFamily="18" charset="0"/>
                <a:ea typeface="Cambria" panose="02040503050406030204" pitchFamily="18" charset="0"/>
                <a:cs typeface="Times New Roman" panose="02020603050405020304" pitchFamily="18" charset="0"/>
              </a:rPr>
              <a:t>Llm</a:t>
            </a:r>
            <a:r>
              <a:rPr lang="en-US" sz="1400" dirty="0">
                <a:latin typeface="Times New Roman" panose="02020603050405020304" pitchFamily="18" charset="0"/>
                <a:ea typeface="Cambria" panose="02040503050406030204" pitchFamily="18" charset="0"/>
                <a:cs typeface="Times New Roman" panose="02020603050405020304" pitchFamily="18" charset="0"/>
              </a:rPr>
              <a:t> enhanced ai chatbot. Indian Scientific Journal Of Research In Engineering And Management, 08(12), 1–5. https://doi.org/10.55041/ijsrem40033</a:t>
            </a:r>
          </a:p>
          <a:p>
            <a:pPr algn="just">
              <a:buNone/>
            </a:pPr>
            <a:r>
              <a:rPr lang="en-US" sz="1400" dirty="0">
                <a:latin typeface="Times New Roman" panose="02020603050405020304" pitchFamily="18" charset="0"/>
                <a:ea typeface="Cambria" panose="02040503050406030204" pitchFamily="18" charset="0"/>
                <a:cs typeface="Times New Roman" panose="02020603050405020304" pitchFamily="18" charset="0"/>
              </a:rPr>
              <a:t>9. R, K., S, K., &amp; R, R. (2023). Legal Solutions - Intelligent Chatbot using Machine Learning. 1–6. https://doi.org/10.1109/iccebs58601.2023.10448748</a:t>
            </a:r>
          </a:p>
          <a:p>
            <a:pPr algn="just">
              <a:buNone/>
            </a:pPr>
            <a:endParaRPr lang="en-US" sz="14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7EEDAD-331A-84D8-A4FA-F108DD08E441}"/>
              </a:ext>
            </a:extLst>
          </p:cNvPr>
          <p:cNvSpPr>
            <a:spLocks noGrp="1"/>
          </p:cNvSpPr>
          <p:nvPr>
            <p:ph type="body" idx="1"/>
          </p:nvPr>
        </p:nvSpPr>
        <p:spPr>
          <a:xfrm>
            <a:off x="421481" y="1057275"/>
            <a:ext cx="11349038" cy="5438775"/>
          </a:xfrm>
        </p:spPr>
        <p:txBody>
          <a:bodyPr>
            <a:noAutofit/>
          </a:bodyPr>
          <a:lstStyle/>
          <a:p>
            <a:pPr marL="76200" indent="0" algn="just">
              <a:buNone/>
            </a:pPr>
            <a:r>
              <a:rPr lang="en-IN" sz="1400" dirty="0">
                <a:latin typeface="Times New Roman" panose="02020603050405020304" pitchFamily="18" charset="0"/>
                <a:cs typeface="Times New Roman" panose="02020603050405020304" pitchFamily="18" charset="0"/>
              </a:rPr>
              <a:t>10. Mishra, S. K., Sanjay, R., Jain, P., &amp; Chaudhary, S. (2024). Enhancing Website Through Chatbot Integration. https://doi.org/10.1109/iceccc61767.2024.10592872</a:t>
            </a:r>
          </a:p>
          <a:p>
            <a:pPr marL="76200" indent="0" algn="just">
              <a:buNone/>
            </a:pPr>
            <a:r>
              <a:rPr lang="en-IN" sz="1400" dirty="0">
                <a:latin typeface="Times New Roman" panose="02020603050405020304" pitchFamily="18" charset="0"/>
                <a:cs typeface="Times New Roman" panose="02020603050405020304" pitchFamily="18" charset="0"/>
              </a:rPr>
              <a:t>11. Hasan, I., Rizvi, S. A. M., Jain, S., &amp; Huria, S. (2021). The AI enabled Chatbot Framework for Intelligent Citizen-Government Interaction for Delivery of Services. International Conference on Computing for Sustainable Global Development, 601–606. https://doi.org/10.1109/INDIACOM51348.2021.00106</a:t>
            </a:r>
          </a:p>
          <a:p>
            <a:pPr marL="76200" indent="0" algn="just">
              <a:buNone/>
            </a:pPr>
            <a:r>
              <a:rPr lang="en-IN" sz="1400" dirty="0">
                <a:latin typeface="Times New Roman" panose="02020603050405020304" pitchFamily="18" charset="0"/>
                <a:cs typeface="Times New Roman" panose="02020603050405020304" pitchFamily="18" charset="0"/>
              </a:rPr>
              <a:t>12. Astudillo Fernández, G. E., Ávila Mahecha, L. D., Bernhard Noguera, S. P., Fragozo Oñate, M. L., Garay </a:t>
            </a:r>
            <a:r>
              <a:rPr lang="en-IN" sz="1400" dirty="0" err="1">
                <a:latin typeface="Times New Roman" panose="02020603050405020304" pitchFamily="18" charset="0"/>
                <a:cs typeface="Times New Roman" panose="02020603050405020304" pitchFamily="18" charset="0"/>
              </a:rPr>
              <a:t>Nuncira</a:t>
            </a:r>
            <a:r>
              <a:rPr lang="en-IN" sz="1400" dirty="0">
                <a:latin typeface="Times New Roman" panose="02020603050405020304" pitchFamily="18" charset="0"/>
                <a:cs typeface="Times New Roman" panose="02020603050405020304" pitchFamily="18" charset="0"/>
              </a:rPr>
              <a:t>, A. C., Jiménez Zuluaga, L. F., Motta Burbano, M. J., &amp; Prada Vanegas, D. G. (2020). </a:t>
            </a:r>
            <a:r>
              <a:rPr lang="en-IN" sz="1400" dirty="0" err="1">
                <a:latin typeface="Times New Roman" panose="02020603050405020304" pitchFamily="18" charset="0"/>
                <a:cs typeface="Times New Roman" panose="02020603050405020304" pitchFamily="18" charset="0"/>
              </a:rPr>
              <a:t>Contribución</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tecnológica</a:t>
            </a:r>
            <a:r>
              <a:rPr lang="en-IN" sz="1400" dirty="0">
                <a:latin typeface="Times New Roman" panose="02020603050405020304" pitchFamily="18" charset="0"/>
                <a:cs typeface="Times New Roman" panose="02020603050405020304" pitchFamily="18" charset="0"/>
              </a:rPr>
              <a:t> al </a:t>
            </a:r>
            <a:r>
              <a:rPr lang="en-IN" sz="1400" dirty="0" err="1">
                <a:latin typeface="Times New Roman" panose="02020603050405020304" pitchFamily="18" charset="0"/>
                <a:cs typeface="Times New Roman" panose="02020603050405020304" pitchFamily="18" charset="0"/>
              </a:rPr>
              <a:t>acceso</a:t>
            </a:r>
            <a:r>
              <a:rPr lang="en-IN" sz="1400" dirty="0">
                <a:latin typeface="Times New Roman" panose="02020603050405020304" pitchFamily="18" charset="0"/>
                <a:cs typeface="Times New Roman" panose="02020603050405020304" pitchFamily="18" charset="0"/>
              </a:rPr>
              <a:t> a la </a:t>
            </a:r>
            <a:r>
              <a:rPr lang="en-IN" sz="1400" dirty="0" err="1">
                <a:latin typeface="Times New Roman" panose="02020603050405020304" pitchFamily="18" charset="0"/>
                <a:cs typeface="Times New Roman" panose="02020603050405020304" pitchFamily="18" charset="0"/>
              </a:rPr>
              <a:t>justicia</a:t>
            </a:r>
            <a:r>
              <a:rPr lang="en-IN" sz="1400" dirty="0">
                <a:latin typeface="Times New Roman" panose="02020603050405020304" pitchFamily="18" charset="0"/>
                <a:cs typeface="Times New Roman" panose="02020603050405020304" pitchFamily="18" charset="0"/>
              </a:rPr>
              <a:t>: un chatbot para </a:t>
            </a:r>
            <a:r>
              <a:rPr lang="en-IN" sz="1400" dirty="0" err="1">
                <a:latin typeface="Times New Roman" panose="02020603050405020304" pitchFamily="18" charset="0"/>
                <a:cs typeface="Times New Roman" panose="02020603050405020304" pitchFamily="18" charset="0"/>
              </a:rPr>
              <a:t>el</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agenciamiento</a:t>
            </a:r>
            <a:r>
              <a:rPr lang="en-IN" sz="1400" dirty="0">
                <a:latin typeface="Times New Roman" panose="02020603050405020304" pitchFamily="18" charset="0"/>
                <a:cs typeface="Times New Roman" panose="02020603050405020304" pitchFamily="18" charset="0"/>
              </a:rPr>
              <a:t> de </a:t>
            </a:r>
            <a:r>
              <a:rPr lang="en-IN" sz="1400" dirty="0" err="1">
                <a:latin typeface="Times New Roman" panose="02020603050405020304" pitchFamily="18" charset="0"/>
                <a:cs typeface="Times New Roman" panose="02020603050405020304" pitchFamily="18" charset="0"/>
              </a:rPr>
              <a:t>necesidades</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jurídicas</a:t>
            </a:r>
            <a:r>
              <a:rPr lang="en-IN" sz="1400" dirty="0">
                <a:latin typeface="Times New Roman" panose="02020603050405020304" pitchFamily="18" charset="0"/>
                <a:cs typeface="Times New Roman" panose="02020603050405020304" pitchFamily="18" charset="0"/>
              </a:rPr>
              <a:t> (pp. 1–34). Universidad del Rosario. https://doi.org/10.12804/urosario9789587845617.01</a:t>
            </a:r>
          </a:p>
          <a:p>
            <a:pPr marL="76200" indent="0" algn="just">
              <a:buNone/>
            </a:pPr>
            <a:r>
              <a:rPr lang="en-IN" sz="1400" dirty="0">
                <a:latin typeface="Times New Roman" panose="02020603050405020304" pitchFamily="18" charset="0"/>
                <a:cs typeface="Times New Roman" panose="02020603050405020304" pitchFamily="18" charset="0"/>
              </a:rPr>
              <a:t>13. Whittle, D., &amp; Hall, L. (2022). Applying cognitive computing to legal services. BCS Learning &amp; Development. https://doi.org/10.14236/ewic/hci2022.35</a:t>
            </a:r>
          </a:p>
          <a:p>
            <a:pPr marL="76200" indent="0" algn="just">
              <a:buNone/>
            </a:pPr>
            <a:r>
              <a:rPr lang="en-IN" sz="1400" dirty="0">
                <a:latin typeface="Times New Roman" panose="02020603050405020304" pitchFamily="18" charset="0"/>
                <a:cs typeface="Times New Roman" panose="02020603050405020304" pitchFamily="18" charset="0"/>
              </a:rPr>
              <a:t>14. Shaikh, A. J., Mirza, Dr. Z., Parkar, F. J., Maaz, M., Ahmed, A., Qayyum, A., &amp; Khan, A. R. (2024). Chat Kanoon: A Novel Approach to Legal Assistance in India. Journal of Electrical Systems. https://doi.org/10.52783/jes.3000</a:t>
            </a:r>
          </a:p>
          <a:p>
            <a:pPr marL="76200" indent="0" algn="just">
              <a:buNone/>
            </a:pPr>
            <a:r>
              <a:rPr lang="en-IN" sz="1400" dirty="0">
                <a:latin typeface="Times New Roman" panose="02020603050405020304" pitchFamily="18" charset="0"/>
                <a:cs typeface="Times New Roman" panose="02020603050405020304" pitchFamily="18" charset="0"/>
              </a:rPr>
              <a:t>15. G, S., N, U., &amp; G, K. (2018). LAWBO: a smart lawyer chatbot. International Conference Data Science and Management, 348–351. https://doi.org/10.1145/3152494.3167988</a:t>
            </a:r>
          </a:p>
          <a:p>
            <a:pPr marL="76200" indent="0" algn="just">
              <a:buNone/>
            </a:pPr>
            <a:r>
              <a:rPr lang="en-IN" sz="1400" dirty="0">
                <a:latin typeface="Times New Roman" panose="02020603050405020304" pitchFamily="18" charset="0"/>
                <a:cs typeface="Times New Roman" panose="02020603050405020304" pitchFamily="18" charset="0"/>
              </a:rPr>
              <a:t>16. </a:t>
            </a:r>
            <a:r>
              <a:rPr lang="en-IN" sz="1400" dirty="0" err="1">
                <a:latin typeface="Times New Roman" panose="02020603050405020304" pitchFamily="18" charset="0"/>
                <a:cs typeface="Times New Roman" panose="02020603050405020304" pitchFamily="18" charset="0"/>
              </a:rPr>
              <a:t>Dehankar</a:t>
            </a:r>
            <a:r>
              <a:rPr lang="en-IN" sz="1400" dirty="0">
                <a:latin typeface="Times New Roman" panose="02020603050405020304" pitchFamily="18" charset="0"/>
                <a:cs typeface="Times New Roman" panose="02020603050405020304" pitchFamily="18" charset="0"/>
              </a:rPr>
              <a:t>, A. V., Kirpan, S., Jha, A., </a:t>
            </a:r>
            <a:r>
              <a:rPr lang="en-IN" sz="1400" dirty="0" err="1">
                <a:latin typeface="Times New Roman" panose="02020603050405020304" pitchFamily="18" charset="0"/>
                <a:cs typeface="Times New Roman" panose="02020603050405020304" pitchFamily="18" charset="0"/>
              </a:rPr>
              <a:t>Thosare</a:t>
            </a:r>
            <a:r>
              <a:rPr lang="en-IN" sz="1400" dirty="0">
                <a:latin typeface="Times New Roman" panose="02020603050405020304" pitchFamily="18" charset="0"/>
                <a:cs typeface="Times New Roman" panose="02020603050405020304" pitchFamily="18" charset="0"/>
              </a:rPr>
              <a:t>, G., </a:t>
            </a:r>
            <a:r>
              <a:rPr lang="en-IN" sz="1400" dirty="0" err="1">
                <a:latin typeface="Times New Roman" panose="02020603050405020304" pitchFamily="18" charset="0"/>
                <a:cs typeface="Times New Roman" panose="02020603050405020304" pitchFamily="18" charset="0"/>
              </a:rPr>
              <a:t>Bhaisare</a:t>
            </a:r>
            <a:r>
              <a:rPr lang="en-IN" sz="1400" dirty="0">
                <a:latin typeface="Times New Roman" panose="02020603050405020304" pitchFamily="18" charset="0"/>
                <a:cs typeface="Times New Roman" panose="02020603050405020304" pitchFamily="18" charset="0"/>
              </a:rPr>
              <a:t>, A., &amp; Mankar, S. (2022). Ai chatbot using dialog flow. International Journal of Computer Science and Mobile Computing, 11(5), 68–74. https://doi.org/10.47760/ijcsmc.2022.v11i05.006</a:t>
            </a:r>
          </a:p>
          <a:p>
            <a:pPr marL="76200" indent="0" algn="just">
              <a:buNone/>
            </a:pPr>
            <a:r>
              <a:rPr lang="en-IN" sz="1400" dirty="0">
                <a:latin typeface="Times New Roman" panose="02020603050405020304" pitchFamily="18" charset="0"/>
                <a:cs typeface="Times New Roman" panose="02020603050405020304" pitchFamily="18" charset="0"/>
              </a:rPr>
              <a:t>17. Krishnam, N. P., Bora, A., Swathi, R., Gehlot, A., Talwar, S., &amp; Raghu, T. (2023). AI-Based advanced Talk-chatbot for Implementation. 1808–1814. https://doi.org/10.1109/icacite57410.2023.10182611</a:t>
            </a:r>
          </a:p>
          <a:p>
            <a:pPr marL="76200" indent="0" algn="just">
              <a:buNone/>
            </a:pPr>
            <a:r>
              <a:rPr lang="en-IN" sz="1400" dirty="0">
                <a:latin typeface="Times New Roman" panose="02020603050405020304" pitchFamily="18" charset="0"/>
                <a:cs typeface="Times New Roman" panose="02020603050405020304" pitchFamily="18" charset="0"/>
              </a:rPr>
              <a:t>18. K, K., T, P., G, O. V., J, D., &amp; S, S. S. (2024). Interactive Legal Assistance System using Large Language Models. 931–937. https://doi.org/10.1109/i-smac61858.2024.10714868</a:t>
            </a:r>
          </a:p>
          <a:p>
            <a:pPr marL="76200" indent="0" algn="just">
              <a:buNone/>
            </a:pP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843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DB29D82-023E-4B08-8C64-962F93E1357E}">
  <we:reference id="wa200003955" version="1.1.0.0" store="en-IN" storeType="OMEX"/>
  <we:alternateReferences>
    <we:reference id="wa200003955" version="1.1.0.0" store="WA20000395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1402</TotalTime>
  <Words>4167</Words>
  <Application>Microsoft Office PowerPoint</Application>
  <PresentationFormat>Widescreen</PresentationFormat>
  <Paragraphs>356</Paragraphs>
  <Slides>24</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Cambria</vt:lpstr>
      <vt:lpstr>Times New Roman</vt:lpstr>
      <vt:lpstr>Verdana</vt:lpstr>
      <vt:lpstr>Bioinformatics</vt:lpstr>
      <vt:lpstr>DEVELOPING AN AI BASED INTERACTIVE CHATBOT OR VIRTUAL ASSISTANT FOR THE DEPARTMENT OF JUSTICE’S WEBSITE.</vt:lpstr>
      <vt:lpstr>INTRODUCTION</vt:lpstr>
      <vt:lpstr>LITERATURE REVIEW</vt:lpstr>
      <vt:lpstr>PowerPoint Presentation</vt:lpstr>
      <vt:lpstr>Existing Systems</vt:lpstr>
      <vt:lpstr>PowerPoint Presentation</vt:lpstr>
      <vt:lpstr>PowerPoint Presentation</vt:lpstr>
      <vt:lpstr>PowerPoint Presentation</vt:lpstr>
      <vt:lpstr>PowerPoint Presentation</vt:lpstr>
      <vt:lpstr>PowerPoint Presentation</vt:lpstr>
      <vt:lpstr>PowerPoint Presentation</vt:lpstr>
      <vt:lpstr>PROPOSED METHODOLOGY</vt:lpstr>
      <vt:lpstr>PowerPoint Presentation</vt:lpstr>
      <vt:lpstr>PowerPoint Presentation</vt:lpstr>
      <vt:lpstr>OBJECTIVES</vt:lpstr>
      <vt:lpstr>PowerPoint Presentation</vt:lpstr>
      <vt:lpstr>PowerPoint Presentation</vt:lpstr>
      <vt:lpstr>TIMELINE OF PROJECT</vt:lpstr>
      <vt:lpstr>PowerPoint Presentation</vt:lpstr>
      <vt:lpstr>EXPECTED OUTCOMES</vt:lpstr>
      <vt:lpstr>CONCLUSION</vt:lpstr>
      <vt:lpstr>References (IEEE Paper format)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Vachanashree NH</cp:lastModifiedBy>
  <cp:revision>142</cp:revision>
  <dcterms:modified xsi:type="dcterms:W3CDTF">2025-05-15T15:08:06Z</dcterms:modified>
</cp:coreProperties>
</file>